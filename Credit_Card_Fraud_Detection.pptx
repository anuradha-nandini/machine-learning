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Transactions</c:v>
                </c:pt>
              </c:strCache>
            </c:strRef>
          </c:tx>
          <c:spPr>
            <a:solidFill>
              <a:schemeClr val="accent1"/>
            </a:solidFill>
            <a:ln w="9525" cap="flat">
              <a:solidFill>
                <a:srgbClr val="F9F9F9"/>
              </a:solidFill>
              <a:prstDash val="solid"/>
              <a:round/>
            </a:ln>
            <a:effectLst/>
          </c:spPr>
          <c:dPt>
            <c:idx val="0"/>
            <c:bubble3D val="0"/>
            <c:spPr>
              <a:solidFill>
                <a:srgbClr val="2E5A9C"/>
              </a:solidFill>
              <a:effectLst/>
            </c:spPr>
            <c:extLst>
              <c:ext xmlns:c16="http://schemas.microsoft.com/office/drawing/2014/chart" uri="{C3380CC4-5D6E-409C-BE32-E72D297353CC}">
                <c16:uniqueId val="{00000001-1632-472E-B063-47823DD6CF3A}"/>
              </c:ext>
            </c:extLst>
          </c:dPt>
          <c:dPt>
            <c:idx val="1"/>
            <c:bubble3D val="0"/>
            <c:spPr>
              <a:solidFill>
                <a:srgbClr val="E63946"/>
              </a:solidFill>
              <a:effectLst/>
            </c:spPr>
            <c:extLst>
              <c:ext xmlns:c16="http://schemas.microsoft.com/office/drawing/2014/chart" uri="{C3380CC4-5D6E-409C-BE32-E72D297353CC}">
                <c16:uniqueId val="{00000003-1632-472E-B063-47823DD6CF3A}"/>
              </c:ext>
            </c:extLst>
          </c:dPt>
          <c:dLbls>
            <c:dLbl>
              <c:idx val="0"/>
              <c:numFmt formatCode="0.0&quot;%&quot;"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632-472E-B063-47823DD6CF3A}"/>
                </c:ext>
              </c:extLst>
            </c:dLbl>
            <c:dLbl>
              <c:idx val="1"/>
              <c:numFmt formatCode="0.0&quot;%&quot;"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632-472E-B063-47823DD6CF3A}"/>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Legitimate</c:v>
                </c:pt>
                <c:pt idx="1">
                  <c:v>Fraudulent</c:v>
                </c:pt>
              </c:strCache>
            </c:strRef>
          </c:cat>
          <c:val>
            <c:numRef>
              <c:f>Sheet1!$B$2:$B$3</c:f>
              <c:numCache>
                <c:formatCode>General</c:formatCode>
                <c:ptCount val="2"/>
                <c:pt idx="0">
                  <c:v>99.83</c:v>
                </c:pt>
                <c:pt idx="1">
                  <c:v>0.17</c:v>
                </c:pt>
              </c:numCache>
            </c:numRef>
          </c:val>
          <c:extLst>
            <c:ext xmlns:c16="http://schemas.microsoft.com/office/drawing/2014/chart" uri="{C3380CC4-5D6E-409C-BE32-E72D297353CC}">
              <c16:uniqueId val="{00000004-1632-472E-B063-47823DD6CF3A}"/>
            </c:ext>
          </c:extLst>
        </c:ser>
        <c:dLbls>
          <c:showLegendKey val="0"/>
          <c:showVal val="0"/>
          <c:showCatName val="0"/>
          <c:showSerName val="0"/>
          <c:showPercent val="0"/>
          <c:showBubbleSize val="0"/>
          <c:showLeaderLines val="0"/>
        </c:dLbls>
        <c:firstSliceAng val="0"/>
        <c:holeSize val="65"/>
      </c:doughnutChart>
      <c:spPr>
        <a:noFill/>
        <a:ln>
          <a:noFill/>
        </a:ln>
        <a:effectLst/>
      </c:spPr>
    </c:plotArea>
    <c:legend>
      <c:legendPos val="b"/>
      <c:overlay val="0"/>
      <c:txPr>
        <a:bodyPr/>
        <a:lstStyle/>
        <a:p>
          <a:pPr>
            <a:defRPr sz="1100">
              <a:solidFill>
                <a:srgbClr val="3C4858"/>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Amount ($)</c:v>
                </c:pt>
              </c:strCache>
            </c:strRef>
          </c:tx>
          <c:spPr>
            <a:solidFill>
              <a:srgbClr val="2E5A9C"/>
            </a:solidFill>
            <a:effectLst/>
          </c:spPr>
          <c:invertIfNegative val="0"/>
          <c:dLbls>
            <c:numFmt formatCode="#,##0" sourceLinked="0"/>
            <c:spPr>
              <a:noFill/>
              <a:ln>
                <a:noFill/>
              </a:ln>
              <a:effectLst/>
            </c:spPr>
            <c:txPr>
              <a:bodyPr/>
              <a:lstStyle/>
              <a:p>
                <a:pPr>
                  <a:defRPr sz="800" b="0" i="0" u="none" strike="noStrike">
                    <a:solidFill>
                      <a:srgbClr val="3C485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0-4h</c:v>
                </c:pt>
                <c:pt idx="1">
                  <c:v>4-8h</c:v>
                </c:pt>
                <c:pt idx="2">
                  <c:v>8-12h</c:v>
                </c:pt>
                <c:pt idx="3">
                  <c:v>12-16h</c:v>
                </c:pt>
                <c:pt idx="4">
                  <c:v>16-20h</c:v>
                </c:pt>
                <c:pt idx="5">
                  <c:v>20-24h</c:v>
                </c:pt>
              </c:strCache>
            </c:strRef>
          </c:cat>
          <c:val>
            <c:numRef>
              <c:f>Sheet1!$B$2:$B$7</c:f>
              <c:numCache>
                <c:formatCode>General</c:formatCode>
                <c:ptCount val="6"/>
                <c:pt idx="0">
                  <c:v>62</c:v>
                </c:pt>
                <c:pt idx="1">
                  <c:v>48</c:v>
                </c:pt>
                <c:pt idx="2">
                  <c:v>95</c:v>
                </c:pt>
                <c:pt idx="3">
                  <c:v>110</c:v>
                </c:pt>
                <c:pt idx="4">
                  <c:v>102</c:v>
                </c:pt>
                <c:pt idx="5">
                  <c:v>74</c:v>
                </c:pt>
              </c:numCache>
            </c:numRef>
          </c:val>
          <c:extLst>
            <c:ext xmlns:c16="http://schemas.microsoft.com/office/drawing/2014/chart" uri="{C3380CC4-5D6E-409C-BE32-E72D297353CC}">
              <c16:uniqueId val="{00000000-E5FD-4DF0-B2D0-9D2B9D37BFF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DE3ED"/>
            </a:solidFill>
            <a:prstDash val="solid"/>
            <a:round/>
          </a:ln>
        </c:spPr>
        <c:txPr>
          <a:bodyPr/>
          <a:lstStyle/>
          <a:p>
            <a:pPr>
              <a:defRPr sz="850" b="0" i="0" u="none" strike="noStrike">
                <a:solidFill>
                  <a:srgbClr val="6B76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E3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B76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Transactions</c:v>
                </c:pt>
              </c:strCache>
            </c:strRef>
          </c:tx>
          <c:spPr>
            <a:solidFill>
              <a:srgbClr val="2E5A9C"/>
            </a:solidFill>
            <a:effectLst/>
          </c:spPr>
          <c:invertIfNegative val="0"/>
          <c:dLbls>
            <c:numFmt formatCode="#,##0" sourceLinked="0"/>
            <c:spPr>
              <a:noFill/>
              <a:ln>
                <a:noFill/>
              </a:ln>
              <a:effectLst/>
            </c:spPr>
            <c:txPr>
              <a:bodyPr/>
              <a:lstStyle/>
              <a:p>
                <a:pPr>
                  <a:defRPr sz="800" b="0" i="0" u="none" strike="noStrike">
                    <a:solidFill>
                      <a:srgbClr val="3C485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Legitimate</c:v>
                </c:pt>
                <c:pt idx="1">
                  <c:v>Fraudulent</c:v>
                </c:pt>
              </c:strCache>
            </c:strRef>
          </c:cat>
          <c:val>
            <c:numRef>
              <c:f>Sheet1!$B$2:$B$3</c:f>
              <c:numCache>
                <c:formatCode>General</c:formatCode>
                <c:ptCount val="2"/>
                <c:pt idx="0">
                  <c:v>284315</c:v>
                </c:pt>
                <c:pt idx="1">
                  <c:v>492</c:v>
                </c:pt>
              </c:numCache>
            </c:numRef>
          </c:val>
          <c:extLst>
            <c:ext xmlns:c16="http://schemas.microsoft.com/office/drawing/2014/chart" uri="{C3380CC4-5D6E-409C-BE32-E72D297353CC}">
              <c16:uniqueId val="{00000000-F5C2-4BBB-8287-9E7950A170B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DE3ED"/>
            </a:solidFill>
            <a:prstDash val="solid"/>
            <a:round/>
          </a:ln>
        </c:spPr>
        <c:txPr>
          <a:bodyPr/>
          <a:lstStyle/>
          <a:p>
            <a:pPr>
              <a:defRPr sz="850" b="0" i="0" u="none" strike="noStrike">
                <a:solidFill>
                  <a:srgbClr val="6B768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solidFill>
                <a:srgbClr val="DDE3ED"/>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538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8869680" y="-1645920"/>
            <a:ext cx="4572000" cy="4572000"/>
          </a:xfrm>
          <a:prstGeom prst="ellipse">
            <a:avLst/>
          </a:prstGeom>
          <a:solidFill>
            <a:srgbClr val="13294B"/>
          </a:solidFill>
          <a:ln/>
        </p:spPr>
      </p:sp>
      <p:sp>
        <p:nvSpPr>
          <p:cNvPr id="3" name="Shape 1"/>
          <p:cNvSpPr/>
          <p:nvPr/>
        </p:nvSpPr>
        <p:spPr>
          <a:xfrm>
            <a:off x="9692640" y="-822960"/>
            <a:ext cx="2926080" cy="2926080"/>
          </a:xfrm>
          <a:prstGeom prst="ellipse">
            <a:avLst/>
          </a:prstGeom>
          <a:ln w="19050">
            <a:solidFill>
              <a:srgbClr val="2E5A9C"/>
            </a:solidFill>
            <a:prstDash val="solid"/>
          </a:ln>
        </p:spPr>
      </p:sp>
      <p:sp>
        <p:nvSpPr>
          <p:cNvPr id="4" name="Shape 2"/>
          <p:cNvSpPr/>
          <p:nvPr/>
        </p:nvSpPr>
        <p:spPr>
          <a:xfrm>
            <a:off x="10332720" y="-182880"/>
            <a:ext cx="1645920" cy="1645920"/>
          </a:xfrm>
          <a:prstGeom prst="ellipse">
            <a:avLst/>
          </a:prstGeom>
          <a:ln w="15875">
            <a:solidFill>
              <a:srgbClr val="E63946"/>
            </a:solidFill>
            <a:prstDash val="solid"/>
          </a:ln>
        </p:spPr>
      </p:sp>
      <p:sp>
        <p:nvSpPr>
          <p:cNvPr id="5" name="Text 3"/>
          <p:cNvSpPr txBox="1"/>
          <p:nvPr/>
        </p:nvSpPr>
        <p:spPr>
          <a:xfrm>
            <a:off x="822960" y="1737360"/>
            <a:ext cx="73152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MACHINE LEARNING PROJECT</a:t>
            </a:r>
            <a:endParaRPr lang="en-US" sz="1300" dirty="0"/>
          </a:p>
        </p:txBody>
      </p:sp>
      <p:sp>
        <p:nvSpPr>
          <p:cNvPr id="6" name="Text 4"/>
          <p:cNvSpPr txBox="1"/>
          <p:nvPr/>
        </p:nvSpPr>
        <p:spPr>
          <a:xfrm>
            <a:off x="777240" y="2148840"/>
            <a:ext cx="868680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Credit Card Fraud</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Detection System</a:t>
            </a:r>
            <a:endParaRPr lang="en-US" sz="4400" dirty="0"/>
          </a:p>
        </p:txBody>
      </p:sp>
      <p:sp>
        <p:nvSpPr>
          <p:cNvPr id="7" name="Text 5"/>
          <p:cNvSpPr txBox="1"/>
          <p:nvPr/>
        </p:nvSpPr>
        <p:spPr>
          <a:xfrm>
            <a:off x="822960" y="4069080"/>
            <a:ext cx="7498080" cy="822960"/>
          </a:xfrm>
          <a:prstGeom prst="rect">
            <a:avLst/>
          </a:prstGeom>
          <a:noFill/>
          <a:ln/>
        </p:spPr>
        <p:txBody>
          <a:bodyPr wrap="square" lIns="0" tIns="0" rIns="0" bIns="0" rtlCol="0" anchor="ctr"/>
          <a:lstStyle/>
          <a:p>
            <a:pPr marL="0" indent="0">
              <a:lnSpc>
                <a:spcPct val="120000"/>
              </a:lnSpc>
              <a:buNone/>
            </a:pPr>
            <a:r>
              <a:rPr lang="en-US" sz="1500" dirty="0">
                <a:solidFill>
                  <a:srgbClr val="AFC6E9"/>
                </a:solidFill>
                <a:latin typeface="Calibri" pitchFamily="34" charset="0"/>
                <a:ea typeface="Calibri" pitchFamily="34" charset="-122"/>
                <a:cs typeface="Calibri" pitchFamily="34" charset="-120"/>
              </a:rPr>
              <a:t>A hybrid approach combining Logistic Regression and Isolation Forest to identify suspicious transactions and strengthen financial security.</a:t>
            </a:r>
            <a:endParaRPr lang="en-US" sz="1500" dirty="0"/>
          </a:p>
        </p:txBody>
      </p:sp>
      <p:sp>
        <p:nvSpPr>
          <p:cNvPr id="8" name="Shape 6"/>
          <p:cNvSpPr/>
          <p:nvPr/>
        </p:nvSpPr>
        <p:spPr>
          <a:xfrm>
            <a:off x="822960" y="5806440"/>
            <a:ext cx="1856232" cy="384048"/>
          </a:xfrm>
          <a:prstGeom prst="roundRect">
            <a:avLst>
              <a:gd name="adj" fmla="val 19048"/>
            </a:avLst>
          </a:prstGeom>
          <a:solidFill>
            <a:srgbClr val="13294B"/>
          </a:solidFill>
          <a:ln w="9525">
            <a:solidFill>
              <a:srgbClr val="2E5A9C"/>
            </a:solidFill>
            <a:prstDash val="solid"/>
          </a:ln>
        </p:spPr>
      </p:sp>
      <p:sp>
        <p:nvSpPr>
          <p:cNvPr id="9" name="Text 7"/>
          <p:cNvSpPr txBox="1"/>
          <p:nvPr/>
        </p:nvSpPr>
        <p:spPr>
          <a:xfrm>
            <a:off x="822960" y="5806440"/>
            <a:ext cx="185623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Problem Definition</a:t>
            </a:r>
            <a:endParaRPr lang="en-US" sz="1050" dirty="0"/>
          </a:p>
        </p:txBody>
      </p:sp>
      <p:sp>
        <p:nvSpPr>
          <p:cNvPr id="10" name="Shape 8"/>
          <p:cNvSpPr/>
          <p:nvPr/>
        </p:nvSpPr>
        <p:spPr>
          <a:xfrm>
            <a:off x="2862072" y="5806440"/>
            <a:ext cx="1421892" cy="384048"/>
          </a:xfrm>
          <a:prstGeom prst="roundRect">
            <a:avLst>
              <a:gd name="adj" fmla="val 19048"/>
            </a:avLst>
          </a:prstGeom>
          <a:solidFill>
            <a:srgbClr val="13294B"/>
          </a:solidFill>
          <a:ln w="9525">
            <a:solidFill>
              <a:srgbClr val="2E5A9C"/>
            </a:solidFill>
            <a:prstDash val="solid"/>
          </a:ln>
        </p:spPr>
      </p:sp>
      <p:sp>
        <p:nvSpPr>
          <p:cNvPr id="11" name="Text 9"/>
          <p:cNvSpPr txBox="1"/>
          <p:nvPr/>
        </p:nvSpPr>
        <p:spPr>
          <a:xfrm>
            <a:off x="2862072" y="5806440"/>
            <a:ext cx="142189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Dataset &amp; EDA</a:t>
            </a:r>
            <a:endParaRPr lang="en-US" sz="1050" dirty="0"/>
          </a:p>
        </p:txBody>
      </p:sp>
      <p:sp>
        <p:nvSpPr>
          <p:cNvPr id="12" name="Shape 10"/>
          <p:cNvSpPr/>
          <p:nvPr/>
        </p:nvSpPr>
        <p:spPr>
          <a:xfrm>
            <a:off x="4466844" y="5806440"/>
            <a:ext cx="1421892" cy="384048"/>
          </a:xfrm>
          <a:prstGeom prst="roundRect">
            <a:avLst>
              <a:gd name="adj" fmla="val 19048"/>
            </a:avLst>
          </a:prstGeom>
          <a:solidFill>
            <a:srgbClr val="13294B"/>
          </a:solidFill>
          <a:ln w="9525">
            <a:solidFill>
              <a:srgbClr val="2E5A9C"/>
            </a:solidFill>
            <a:prstDash val="solid"/>
          </a:ln>
        </p:spPr>
      </p:sp>
      <p:sp>
        <p:nvSpPr>
          <p:cNvPr id="13" name="Text 11"/>
          <p:cNvSpPr txBox="1"/>
          <p:nvPr/>
        </p:nvSpPr>
        <p:spPr>
          <a:xfrm>
            <a:off x="4466844" y="5806440"/>
            <a:ext cx="142189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Preprocessing</a:t>
            </a:r>
            <a:endParaRPr lang="en-US" sz="1050" dirty="0"/>
          </a:p>
        </p:txBody>
      </p:sp>
      <p:sp>
        <p:nvSpPr>
          <p:cNvPr id="14" name="Shape 12"/>
          <p:cNvSpPr/>
          <p:nvPr/>
        </p:nvSpPr>
        <p:spPr>
          <a:xfrm>
            <a:off x="6071616" y="5806440"/>
            <a:ext cx="987552" cy="384048"/>
          </a:xfrm>
          <a:prstGeom prst="roundRect">
            <a:avLst>
              <a:gd name="adj" fmla="val 19048"/>
            </a:avLst>
          </a:prstGeom>
          <a:solidFill>
            <a:srgbClr val="13294B"/>
          </a:solidFill>
          <a:ln w="9525">
            <a:solidFill>
              <a:srgbClr val="2E5A9C"/>
            </a:solidFill>
            <a:prstDash val="solid"/>
          </a:ln>
        </p:spPr>
      </p:sp>
      <p:sp>
        <p:nvSpPr>
          <p:cNvPr id="15" name="Text 13"/>
          <p:cNvSpPr txBox="1"/>
          <p:nvPr/>
        </p:nvSpPr>
        <p:spPr>
          <a:xfrm>
            <a:off x="6071616" y="5806440"/>
            <a:ext cx="98755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Modeling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PROBLEM DEFINITION</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What We're Solving, and Why It Matters</a:t>
            </a:r>
            <a:endParaRPr lang="en-US" sz="2800" dirty="0"/>
          </a:p>
        </p:txBody>
      </p:sp>
      <p:sp>
        <p:nvSpPr>
          <p:cNvPr id="4" name="Shape 2"/>
          <p:cNvSpPr/>
          <p:nvPr/>
        </p:nvSpPr>
        <p:spPr>
          <a:xfrm>
            <a:off x="594360" y="1783080"/>
            <a:ext cx="5166360" cy="1965960"/>
          </a:xfrm>
          <a:prstGeom prst="roundRect">
            <a:avLst>
              <a:gd name="adj" fmla="val 3721"/>
            </a:avLst>
          </a:prstGeom>
          <a:solidFill>
            <a:srgbClr val="FFFFFF"/>
          </a:solidFill>
          <a:ln w="12700">
            <a:solidFill>
              <a:srgbClr val="DDE3ED"/>
            </a:solidFill>
            <a:prstDash val="solid"/>
          </a:ln>
          <a:effectLst>
            <a:outerShdw blurRad="101600" dist="38100" dir="5400000" algn="bl" rotWithShape="0">
              <a:srgbClr val="1B2A41">
                <a:alpha val="12000"/>
              </a:srgbClr>
            </a:outerShdw>
          </a:effectLst>
        </p:spPr>
      </p:sp>
      <p:sp>
        <p:nvSpPr>
          <p:cNvPr id="5" name="Shape 3"/>
          <p:cNvSpPr/>
          <p:nvPr/>
        </p:nvSpPr>
        <p:spPr>
          <a:xfrm>
            <a:off x="868680" y="2057400"/>
            <a:ext cx="411480" cy="411480"/>
          </a:xfrm>
          <a:prstGeom prst="roundRect">
            <a:avLst>
              <a:gd name="adj" fmla="val 15556"/>
            </a:avLst>
          </a:prstGeom>
          <a:solidFill>
            <a:srgbClr val="E63946"/>
          </a:solidFill>
          <a:ln/>
        </p:spPr>
      </p:sp>
      <p:sp>
        <p:nvSpPr>
          <p:cNvPr id="6" name="Text 4"/>
          <p:cNvSpPr txBox="1"/>
          <p:nvPr/>
        </p:nvSpPr>
        <p:spPr>
          <a:xfrm>
            <a:off x="868680" y="20574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868680" y="260604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What problem are we solving?</a:t>
            </a:r>
            <a:endParaRPr lang="en-US" sz="1450" dirty="0"/>
          </a:p>
        </p:txBody>
      </p:sp>
      <p:sp>
        <p:nvSpPr>
          <p:cNvPr id="8" name="Text 6"/>
          <p:cNvSpPr txBox="1"/>
          <p:nvPr/>
        </p:nvSpPr>
        <p:spPr>
          <a:xfrm>
            <a:off x="868680" y="301752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Identifying fraudulent credit card transactions in real time, separating them from the overwhelming majority of legitimate purchases.</a:t>
            </a:r>
            <a:endParaRPr lang="en-US" sz="1150" dirty="0"/>
          </a:p>
        </p:txBody>
      </p:sp>
      <p:sp>
        <p:nvSpPr>
          <p:cNvPr id="9" name="Shape 7"/>
          <p:cNvSpPr/>
          <p:nvPr/>
        </p:nvSpPr>
        <p:spPr>
          <a:xfrm>
            <a:off x="594360" y="4023360"/>
            <a:ext cx="5166360" cy="1965960"/>
          </a:xfrm>
          <a:prstGeom prst="roundRect">
            <a:avLst>
              <a:gd name="adj" fmla="val 3721"/>
            </a:avLst>
          </a:prstGeom>
          <a:solidFill>
            <a:srgbClr val="FFFFFF"/>
          </a:solidFill>
          <a:ln w="12700">
            <a:solidFill>
              <a:srgbClr val="DDE3ED"/>
            </a:solidFill>
            <a:prstDash val="solid"/>
          </a:ln>
          <a:effectLst>
            <a:outerShdw blurRad="1290320000" dist="483870000" algn="bl" rotWithShape="0">
              <a:srgbClr val="1B2A41">
                <a:alpha val="0"/>
              </a:srgbClr>
            </a:outerShdw>
          </a:effectLst>
        </p:spPr>
      </p:sp>
      <p:sp>
        <p:nvSpPr>
          <p:cNvPr id="10" name="Shape 8"/>
          <p:cNvSpPr/>
          <p:nvPr/>
        </p:nvSpPr>
        <p:spPr>
          <a:xfrm>
            <a:off x="868680" y="4297680"/>
            <a:ext cx="411480" cy="411480"/>
          </a:xfrm>
          <a:prstGeom prst="roundRect">
            <a:avLst>
              <a:gd name="adj" fmla="val 15556"/>
            </a:avLst>
          </a:prstGeom>
          <a:solidFill>
            <a:srgbClr val="E63946"/>
          </a:solidFill>
          <a:ln/>
        </p:spPr>
      </p:sp>
      <p:sp>
        <p:nvSpPr>
          <p:cNvPr id="11" name="Text 9"/>
          <p:cNvSpPr txBox="1"/>
          <p:nvPr/>
        </p:nvSpPr>
        <p:spPr>
          <a:xfrm>
            <a:off x="868680" y="4297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868680" y="484632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Why is this problem important?</a:t>
            </a:r>
            <a:endParaRPr lang="en-US" sz="1450" dirty="0"/>
          </a:p>
        </p:txBody>
      </p:sp>
      <p:sp>
        <p:nvSpPr>
          <p:cNvPr id="13" name="Text 11"/>
          <p:cNvSpPr txBox="1"/>
          <p:nvPr/>
        </p:nvSpPr>
        <p:spPr>
          <a:xfrm>
            <a:off x="868680" y="525780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Fraud causes direct monetary losses for banks and cardholders, and undetected fraud erodes trust in digital payment systems.</a:t>
            </a:r>
            <a:endParaRPr lang="en-US" sz="1150" dirty="0"/>
          </a:p>
        </p:txBody>
      </p:sp>
      <p:sp>
        <p:nvSpPr>
          <p:cNvPr id="14" name="Shape 12"/>
          <p:cNvSpPr/>
          <p:nvPr/>
        </p:nvSpPr>
        <p:spPr>
          <a:xfrm>
            <a:off x="6263640" y="1783080"/>
            <a:ext cx="5166360" cy="1965960"/>
          </a:xfrm>
          <a:prstGeom prst="roundRect">
            <a:avLst>
              <a:gd name="adj" fmla="val 3721"/>
            </a:avLst>
          </a:prstGeom>
          <a:solidFill>
            <a:srgbClr val="FFFFFF"/>
          </a:solidFill>
          <a:ln w="12700">
            <a:solidFill>
              <a:srgbClr val="DDE3ED"/>
            </a:solidFill>
            <a:prstDash val="solid"/>
          </a:ln>
          <a:effectLst>
            <a:outerShdw algn="bl" rotWithShape="0">
              <a:srgbClr val="1B2A41">
                <a:alpha val="0"/>
              </a:srgbClr>
            </a:outerShdw>
          </a:effectLst>
        </p:spPr>
      </p:sp>
      <p:sp>
        <p:nvSpPr>
          <p:cNvPr id="15" name="Shape 13"/>
          <p:cNvSpPr/>
          <p:nvPr/>
        </p:nvSpPr>
        <p:spPr>
          <a:xfrm>
            <a:off x="6537960" y="2057400"/>
            <a:ext cx="411480" cy="411480"/>
          </a:xfrm>
          <a:prstGeom prst="roundRect">
            <a:avLst>
              <a:gd name="adj" fmla="val 15556"/>
            </a:avLst>
          </a:prstGeom>
          <a:solidFill>
            <a:srgbClr val="E63946"/>
          </a:solidFill>
          <a:ln/>
        </p:spPr>
      </p:sp>
      <p:sp>
        <p:nvSpPr>
          <p:cNvPr id="16" name="Text 14"/>
          <p:cNvSpPr txBox="1"/>
          <p:nvPr/>
        </p:nvSpPr>
        <p:spPr>
          <a:xfrm>
            <a:off x="6537960" y="20574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6537960" y="260604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Who will use the solution?</a:t>
            </a:r>
            <a:endParaRPr lang="en-US" sz="1450" dirty="0"/>
          </a:p>
        </p:txBody>
      </p:sp>
      <p:sp>
        <p:nvSpPr>
          <p:cNvPr id="18" name="Text 16"/>
          <p:cNvSpPr txBox="1"/>
          <p:nvPr/>
        </p:nvSpPr>
        <p:spPr>
          <a:xfrm>
            <a:off x="6537960" y="301752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Banks, payment processors, and fraud-risk teams who need to flag suspicious transactions before funds are lost.</a:t>
            </a:r>
            <a:endParaRPr lang="en-US" sz="1150" dirty="0"/>
          </a:p>
        </p:txBody>
      </p:sp>
      <p:sp>
        <p:nvSpPr>
          <p:cNvPr id="19" name="Shape 17"/>
          <p:cNvSpPr/>
          <p:nvPr/>
        </p:nvSpPr>
        <p:spPr>
          <a:xfrm>
            <a:off x="6263640" y="4023360"/>
            <a:ext cx="5166360" cy="1965960"/>
          </a:xfrm>
          <a:prstGeom prst="roundRect">
            <a:avLst>
              <a:gd name="adj" fmla="val 3721"/>
            </a:avLst>
          </a:prstGeom>
          <a:solidFill>
            <a:srgbClr val="FFFFFF"/>
          </a:solidFill>
          <a:ln w="12700">
            <a:solidFill>
              <a:srgbClr val="DDE3ED"/>
            </a:solidFill>
            <a:prstDash val="solid"/>
          </a:ln>
          <a:effectLst>
            <a:outerShdw algn="bl" rotWithShape="0">
              <a:srgbClr val="1B2A41">
                <a:alpha val="0"/>
              </a:srgbClr>
            </a:outerShdw>
          </a:effectLst>
        </p:spPr>
      </p:sp>
      <p:sp>
        <p:nvSpPr>
          <p:cNvPr id="20" name="Shape 18"/>
          <p:cNvSpPr/>
          <p:nvPr/>
        </p:nvSpPr>
        <p:spPr>
          <a:xfrm>
            <a:off x="6537960" y="4297680"/>
            <a:ext cx="411480" cy="411480"/>
          </a:xfrm>
          <a:prstGeom prst="roundRect">
            <a:avLst>
              <a:gd name="adj" fmla="val 15556"/>
            </a:avLst>
          </a:prstGeom>
          <a:solidFill>
            <a:srgbClr val="E63946"/>
          </a:solidFill>
          <a:ln/>
        </p:spPr>
      </p:sp>
      <p:sp>
        <p:nvSpPr>
          <p:cNvPr id="21" name="Text 19"/>
          <p:cNvSpPr txBox="1"/>
          <p:nvPr/>
        </p:nvSpPr>
        <p:spPr>
          <a:xfrm>
            <a:off x="6537960" y="4297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6537960" y="484632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What is the expected output?</a:t>
            </a:r>
            <a:endParaRPr lang="en-US" sz="1450" dirty="0"/>
          </a:p>
        </p:txBody>
      </p:sp>
      <p:sp>
        <p:nvSpPr>
          <p:cNvPr id="23" name="Text 21"/>
          <p:cNvSpPr txBox="1"/>
          <p:nvPr/>
        </p:nvSpPr>
        <p:spPr>
          <a:xfrm>
            <a:off x="6537960" y="525780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For each transaction, a classification — legitimate or fraudulent — plus an anomaly score highlighting unusual behavior.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ABSTRACT</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Project Overview</a:t>
            </a:r>
            <a:endParaRPr lang="en-US" sz="2800" dirty="0"/>
          </a:p>
        </p:txBody>
      </p:sp>
      <p:sp>
        <p:nvSpPr>
          <p:cNvPr id="4" name="Shape 2"/>
          <p:cNvSpPr/>
          <p:nvPr/>
        </p:nvSpPr>
        <p:spPr>
          <a:xfrm>
            <a:off x="594360" y="1600200"/>
            <a:ext cx="6537960" cy="4572000"/>
          </a:xfrm>
          <a:prstGeom prst="roundRect">
            <a:avLst>
              <a:gd name="adj" fmla="val 1600"/>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914400" y="1874520"/>
            <a:ext cx="5897880" cy="4069080"/>
          </a:xfrm>
          <a:prstGeom prst="rect">
            <a:avLst/>
          </a:prstGeom>
          <a:noFill/>
          <a:ln/>
        </p:spPr>
        <p:txBody>
          <a:bodyPr wrap="square" lIns="0" tIns="0" rIns="0" bIns="0" rtlCol="0" anchor="ctr"/>
          <a:lstStyle/>
          <a:p>
            <a:pPr marL="0" indent="0">
              <a:lnSpc>
                <a:spcPct val="132000"/>
              </a:lnSpc>
              <a:buNone/>
            </a:pPr>
            <a:r>
              <a:rPr lang="en-US" sz="1250" dirty="0">
                <a:solidFill>
                  <a:srgbClr val="3C4858"/>
                </a:solidFill>
                <a:latin typeface="Calibri" pitchFamily="34" charset="0"/>
                <a:ea typeface="Calibri" pitchFamily="34" charset="-122"/>
                <a:cs typeface="Calibri" pitchFamily="34" charset="-120"/>
              </a:rPr>
              <a:t>Credit card fraud is a major financial security problem that can cause significant monetary losses for both customers and financial institutions. This project presents a machine learning-based Credit Card Fraud Detection System using Logistic Regression and Isolation Forest anomaly detection techniques. Logistic Regression is used as a supervised classification model to identify transactions as legitimate or fraudulent based on patterns learned from historical transaction data. Isolation Forest is applied as an unsupervised anomaly detection method to identify unusual transactions that significantly differ from normal transaction behavior. The dataset is preprocessed by handling missing values, scaling numerical features, and addressing the highly imbalanced nature of fraud detection data. The performance of the models is evaluated using metrics such as accuracy, precision, recall, F1-score, confusion matrix, and ROC-AUC. By combining supervised classification with anomaly detection, the proposed system aims to improve the identification of suspicious transactions and provide a more reliable approach to detecting credit card fraud. This project demonstrates how machine learning can be effectively applied to enhance financial transaction security and reduce fraudulent losses.</a:t>
            </a:r>
            <a:endParaRPr lang="en-US" sz="1250" dirty="0"/>
          </a:p>
        </p:txBody>
      </p:sp>
      <p:sp>
        <p:nvSpPr>
          <p:cNvPr id="6" name="Text 4"/>
          <p:cNvSpPr txBox="1"/>
          <p:nvPr/>
        </p:nvSpPr>
        <p:spPr>
          <a:xfrm>
            <a:off x="7406640" y="1600200"/>
            <a:ext cx="370332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Core Techniques</a:t>
            </a:r>
            <a:endParaRPr lang="en-US" sz="1300" dirty="0"/>
          </a:p>
        </p:txBody>
      </p:sp>
      <p:sp>
        <p:nvSpPr>
          <p:cNvPr id="7" name="Shape 5"/>
          <p:cNvSpPr/>
          <p:nvPr/>
        </p:nvSpPr>
        <p:spPr>
          <a:xfrm>
            <a:off x="7406640" y="2011680"/>
            <a:ext cx="3703320" cy="960120"/>
          </a:xfrm>
          <a:prstGeom prst="roundRect">
            <a:avLst>
              <a:gd name="adj" fmla="val 6667"/>
            </a:avLst>
          </a:prstGeom>
          <a:solidFill>
            <a:srgbClr val="0B1B33"/>
          </a:solidFill>
          <a:ln/>
        </p:spPr>
      </p:sp>
      <p:sp>
        <p:nvSpPr>
          <p:cNvPr id="8" name="Text 6"/>
          <p:cNvSpPr txBox="1"/>
          <p:nvPr/>
        </p:nvSpPr>
        <p:spPr>
          <a:xfrm>
            <a:off x="7635240" y="2103120"/>
            <a:ext cx="32918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9" name="Text 7"/>
          <p:cNvSpPr txBox="1"/>
          <p:nvPr/>
        </p:nvSpPr>
        <p:spPr>
          <a:xfrm>
            <a:off x="7635240" y="2432304"/>
            <a:ext cx="3291840" cy="502920"/>
          </a:xfrm>
          <a:prstGeom prst="rect">
            <a:avLst/>
          </a:prstGeom>
          <a:noFill/>
          <a:ln/>
        </p:spPr>
        <p:txBody>
          <a:bodyPr wrap="square" lIns="0" tIns="0" rIns="0" bIns="0" rtlCol="0" anchor="ctr"/>
          <a:lstStyle/>
          <a:p>
            <a:pPr marL="0" indent="0">
              <a:lnSpc>
                <a:spcPct val="120000"/>
              </a:lnSpc>
              <a:buNone/>
            </a:pPr>
            <a:r>
              <a:rPr lang="en-US" sz="1050" dirty="0">
                <a:solidFill>
                  <a:srgbClr val="AFC6E9"/>
                </a:solidFill>
                <a:latin typeface="Calibri" pitchFamily="34" charset="0"/>
                <a:ea typeface="Calibri" pitchFamily="34" charset="-122"/>
                <a:cs typeface="Calibri" pitchFamily="34" charset="-120"/>
              </a:rPr>
              <a:t>Supervised classification of legitimate vs. fraudulent transactions</a:t>
            </a:r>
            <a:endParaRPr lang="en-US" sz="1050" dirty="0"/>
          </a:p>
        </p:txBody>
      </p:sp>
      <p:sp>
        <p:nvSpPr>
          <p:cNvPr id="10" name="Shape 8"/>
          <p:cNvSpPr/>
          <p:nvPr/>
        </p:nvSpPr>
        <p:spPr>
          <a:xfrm>
            <a:off x="7406640" y="3154680"/>
            <a:ext cx="3703320" cy="960120"/>
          </a:xfrm>
          <a:prstGeom prst="roundRect">
            <a:avLst>
              <a:gd name="adj" fmla="val 6667"/>
            </a:avLst>
          </a:prstGeom>
          <a:solidFill>
            <a:srgbClr val="0B1B33"/>
          </a:solidFill>
          <a:ln/>
        </p:spPr>
      </p:sp>
      <p:sp>
        <p:nvSpPr>
          <p:cNvPr id="11" name="Text 9"/>
          <p:cNvSpPr txBox="1"/>
          <p:nvPr/>
        </p:nvSpPr>
        <p:spPr>
          <a:xfrm>
            <a:off x="7635240" y="3246120"/>
            <a:ext cx="32918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Isolation Forest</a:t>
            </a:r>
            <a:endParaRPr lang="en-US" sz="1300" dirty="0"/>
          </a:p>
        </p:txBody>
      </p:sp>
      <p:sp>
        <p:nvSpPr>
          <p:cNvPr id="12" name="Text 10"/>
          <p:cNvSpPr txBox="1"/>
          <p:nvPr/>
        </p:nvSpPr>
        <p:spPr>
          <a:xfrm>
            <a:off x="7635240" y="3575304"/>
            <a:ext cx="3291840" cy="502920"/>
          </a:xfrm>
          <a:prstGeom prst="rect">
            <a:avLst/>
          </a:prstGeom>
          <a:noFill/>
          <a:ln/>
        </p:spPr>
        <p:txBody>
          <a:bodyPr wrap="square" lIns="0" tIns="0" rIns="0" bIns="0" rtlCol="0" anchor="ctr"/>
          <a:lstStyle/>
          <a:p>
            <a:pPr marL="0" indent="0">
              <a:lnSpc>
                <a:spcPct val="120000"/>
              </a:lnSpc>
              <a:buNone/>
            </a:pPr>
            <a:r>
              <a:rPr lang="en-US" sz="1050" dirty="0">
                <a:solidFill>
                  <a:srgbClr val="AFC6E9"/>
                </a:solidFill>
                <a:latin typeface="Calibri" pitchFamily="34" charset="0"/>
                <a:ea typeface="Calibri" pitchFamily="34" charset="-122"/>
                <a:cs typeface="Calibri" pitchFamily="34" charset="-120"/>
              </a:rPr>
              <a:t>Unsupervised detection of anomalous transaction behavior</a:t>
            </a:r>
            <a:endParaRPr lang="en-US" sz="1050" dirty="0"/>
          </a:p>
        </p:txBody>
      </p:sp>
      <p:sp>
        <p:nvSpPr>
          <p:cNvPr id="13" name="Text 11"/>
          <p:cNvSpPr txBox="1"/>
          <p:nvPr/>
        </p:nvSpPr>
        <p:spPr>
          <a:xfrm>
            <a:off x="7406640" y="4434840"/>
            <a:ext cx="370332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Evaluation Metrics</a:t>
            </a:r>
            <a:endParaRPr lang="en-US" sz="1300" dirty="0"/>
          </a:p>
        </p:txBody>
      </p:sp>
      <p:sp>
        <p:nvSpPr>
          <p:cNvPr id="14" name="Shape 12"/>
          <p:cNvSpPr/>
          <p:nvPr/>
        </p:nvSpPr>
        <p:spPr>
          <a:xfrm>
            <a:off x="7406640" y="4828032"/>
            <a:ext cx="874166" cy="384048"/>
          </a:xfrm>
          <a:prstGeom prst="roundRect">
            <a:avLst>
              <a:gd name="adj" fmla="val 50000"/>
            </a:avLst>
          </a:prstGeom>
          <a:solidFill>
            <a:srgbClr val="F4F6FA"/>
          </a:solidFill>
          <a:ln w="12700">
            <a:solidFill>
              <a:srgbClr val="2E5A9C"/>
            </a:solidFill>
            <a:prstDash val="solid"/>
          </a:ln>
        </p:spPr>
      </p:sp>
      <p:sp>
        <p:nvSpPr>
          <p:cNvPr id="15" name="Text 13"/>
          <p:cNvSpPr txBox="1"/>
          <p:nvPr/>
        </p:nvSpPr>
        <p:spPr>
          <a:xfrm>
            <a:off x="7406640" y="4828032"/>
            <a:ext cx="87416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Accuracy</a:t>
            </a:r>
            <a:endParaRPr lang="en-US" sz="1000" dirty="0"/>
          </a:p>
        </p:txBody>
      </p:sp>
      <p:sp>
        <p:nvSpPr>
          <p:cNvPr id="16" name="Shape 14"/>
          <p:cNvSpPr/>
          <p:nvPr/>
        </p:nvSpPr>
        <p:spPr>
          <a:xfrm>
            <a:off x="8417966" y="4828032"/>
            <a:ext cx="949147" cy="384048"/>
          </a:xfrm>
          <a:prstGeom prst="roundRect">
            <a:avLst>
              <a:gd name="adj" fmla="val 50000"/>
            </a:avLst>
          </a:prstGeom>
          <a:solidFill>
            <a:srgbClr val="F4F6FA"/>
          </a:solidFill>
          <a:ln w="12700">
            <a:solidFill>
              <a:srgbClr val="2E5A9C"/>
            </a:solidFill>
            <a:prstDash val="solid"/>
          </a:ln>
        </p:spPr>
      </p:sp>
      <p:sp>
        <p:nvSpPr>
          <p:cNvPr id="17" name="Text 15"/>
          <p:cNvSpPr txBox="1"/>
          <p:nvPr/>
        </p:nvSpPr>
        <p:spPr>
          <a:xfrm>
            <a:off x="8417966" y="4828032"/>
            <a:ext cx="949147"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Precision</a:t>
            </a:r>
            <a:endParaRPr lang="en-US" sz="1000" dirty="0"/>
          </a:p>
        </p:txBody>
      </p:sp>
      <p:sp>
        <p:nvSpPr>
          <p:cNvPr id="18" name="Shape 16"/>
          <p:cNvSpPr/>
          <p:nvPr/>
        </p:nvSpPr>
        <p:spPr>
          <a:xfrm>
            <a:off x="9504274" y="4828032"/>
            <a:ext cx="724205" cy="384048"/>
          </a:xfrm>
          <a:prstGeom prst="roundRect">
            <a:avLst>
              <a:gd name="adj" fmla="val 50000"/>
            </a:avLst>
          </a:prstGeom>
          <a:solidFill>
            <a:srgbClr val="F4F6FA"/>
          </a:solidFill>
          <a:ln w="12700">
            <a:solidFill>
              <a:srgbClr val="2E5A9C"/>
            </a:solidFill>
            <a:prstDash val="solid"/>
          </a:ln>
        </p:spPr>
      </p:sp>
      <p:sp>
        <p:nvSpPr>
          <p:cNvPr id="19" name="Text 17"/>
          <p:cNvSpPr txBox="1"/>
          <p:nvPr/>
        </p:nvSpPr>
        <p:spPr>
          <a:xfrm>
            <a:off x="9504274" y="4828032"/>
            <a:ext cx="724205"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Recall</a:t>
            </a:r>
            <a:endParaRPr lang="en-US" sz="1000" dirty="0"/>
          </a:p>
        </p:txBody>
      </p:sp>
      <p:sp>
        <p:nvSpPr>
          <p:cNvPr id="20" name="Shape 18"/>
          <p:cNvSpPr/>
          <p:nvPr/>
        </p:nvSpPr>
        <p:spPr>
          <a:xfrm>
            <a:off x="7406640" y="5321808"/>
            <a:ext cx="874166" cy="384048"/>
          </a:xfrm>
          <a:prstGeom prst="roundRect">
            <a:avLst>
              <a:gd name="adj" fmla="val 50000"/>
            </a:avLst>
          </a:prstGeom>
          <a:solidFill>
            <a:srgbClr val="F4F6FA"/>
          </a:solidFill>
          <a:ln w="12700">
            <a:solidFill>
              <a:srgbClr val="2E5A9C"/>
            </a:solidFill>
            <a:prstDash val="solid"/>
          </a:ln>
        </p:spPr>
      </p:sp>
      <p:sp>
        <p:nvSpPr>
          <p:cNvPr id="21" name="Text 19"/>
          <p:cNvSpPr txBox="1"/>
          <p:nvPr/>
        </p:nvSpPr>
        <p:spPr>
          <a:xfrm>
            <a:off x="7406640" y="5321808"/>
            <a:ext cx="87416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F1-Score</a:t>
            </a:r>
            <a:endParaRPr lang="en-US" sz="1000" dirty="0"/>
          </a:p>
        </p:txBody>
      </p:sp>
      <p:sp>
        <p:nvSpPr>
          <p:cNvPr id="22" name="Shape 20"/>
          <p:cNvSpPr/>
          <p:nvPr/>
        </p:nvSpPr>
        <p:spPr>
          <a:xfrm>
            <a:off x="8417966" y="5321808"/>
            <a:ext cx="1474013" cy="384048"/>
          </a:xfrm>
          <a:prstGeom prst="roundRect">
            <a:avLst>
              <a:gd name="adj" fmla="val 50000"/>
            </a:avLst>
          </a:prstGeom>
          <a:solidFill>
            <a:srgbClr val="F4F6FA"/>
          </a:solidFill>
          <a:ln w="12700">
            <a:solidFill>
              <a:srgbClr val="2E5A9C"/>
            </a:solidFill>
            <a:prstDash val="solid"/>
          </a:ln>
        </p:spPr>
      </p:sp>
      <p:sp>
        <p:nvSpPr>
          <p:cNvPr id="23" name="Text 21"/>
          <p:cNvSpPr txBox="1"/>
          <p:nvPr/>
        </p:nvSpPr>
        <p:spPr>
          <a:xfrm>
            <a:off x="8417966" y="5321808"/>
            <a:ext cx="1474013"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Confusion Matrix</a:t>
            </a:r>
            <a:endParaRPr lang="en-US" sz="1000" dirty="0"/>
          </a:p>
        </p:txBody>
      </p:sp>
      <p:sp>
        <p:nvSpPr>
          <p:cNvPr id="24" name="Shape 22"/>
          <p:cNvSpPr/>
          <p:nvPr/>
        </p:nvSpPr>
        <p:spPr>
          <a:xfrm>
            <a:off x="10029139" y="5321808"/>
            <a:ext cx="799186" cy="384048"/>
          </a:xfrm>
          <a:prstGeom prst="roundRect">
            <a:avLst>
              <a:gd name="adj" fmla="val 50000"/>
            </a:avLst>
          </a:prstGeom>
          <a:solidFill>
            <a:srgbClr val="F4F6FA"/>
          </a:solidFill>
          <a:ln w="12700">
            <a:solidFill>
              <a:srgbClr val="2E5A9C"/>
            </a:solidFill>
            <a:prstDash val="solid"/>
          </a:ln>
        </p:spPr>
      </p:sp>
      <p:sp>
        <p:nvSpPr>
          <p:cNvPr id="25" name="Text 23"/>
          <p:cNvSpPr txBox="1"/>
          <p:nvPr/>
        </p:nvSpPr>
        <p:spPr>
          <a:xfrm>
            <a:off x="10029139" y="5321808"/>
            <a:ext cx="79918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ROC-AUC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DATASET COLLECTION</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Sourcing and Understanding the Dataset</a:t>
            </a:r>
            <a:endParaRPr lang="en-US" sz="2800" dirty="0"/>
          </a:p>
        </p:txBody>
      </p:sp>
      <p:sp>
        <p:nvSpPr>
          <p:cNvPr id="4" name="Text 2"/>
          <p:cNvSpPr txBox="1"/>
          <p:nvPr/>
        </p:nvSpPr>
        <p:spPr>
          <a:xfrm>
            <a:off x="594360" y="178308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Source</a:t>
            </a:r>
            <a:endParaRPr lang="en-US" sz="1300" dirty="0"/>
          </a:p>
        </p:txBody>
      </p:sp>
      <p:sp>
        <p:nvSpPr>
          <p:cNvPr id="5" name="Text 3"/>
          <p:cNvSpPr txBox="1"/>
          <p:nvPr/>
        </p:nvSpPr>
        <p:spPr>
          <a:xfrm>
            <a:off x="594360" y="2103120"/>
            <a:ext cx="5577840" cy="86868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Kaggle — “Credit Card Fraud Detection” dataset, released by the Machine Learning Group at ULB (Université Libre de Bruxelles). Downloaded as a single CSV file for offline analysis.</a:t>
            </a:r>
            <a:endParaRPr lang="en-US" sz="1250" dirty="0"/>
          </a:p>
        </p:txBody>
      </p:sp>
      <p:sp>
        <p:nvSpPr>
          <p:cNvPr id="6" name="Text 4"/>
          <p:cNvSpPr txBox="1"/>
          <p:nvPr/>
        </p:nvSpPr>
        <p:spPr>
          <a:xfrm>
            <a:off x="594360" y="310896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Target / Output Column</a:t>
            </a:r>
            <a:endParaRPr lang="en-US" sz="1300" dirty="0"/>
          </a:p>
        </p:txBody>
      </p:sp>
      <p:sp>
        <p:nvSpPr>
          <p:cNvPr id="7" name="Text 5"/>
          <p:cNvSpPr txBox="1"/>
          <p:nvPr/>
        </p:nvSpPr>
        <p:spPr>
          <a:xfrm>
            <a:off x="594360" y="3429000"/>
            <a:ext cx="5577840" cy="68580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Class — a binary label: 0 for a legitimate transaction, 1 for a fraudulent one. This is the column the models are trained to predict.</a:t>
            </a:r>
            <a:endParaRPr lang="en-US" sz="1250" dirty="0"/>
          </a:p>
        </p:txBody>
      </p:sp>
      <p:sp>
        <p:nvSpPr>
          <p:cNvPr id="8" name="Text 6"/>
          <p:cNvSpPr txBox="1"/>
          <p:nvPr/>
        </p:nvSpPr>
        <p:spPr>
          <a:xfrm>
            <a:off x="594360" y="425196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Feature Columns</a:t>
            </a:r>
            <a:endParaRPr lang="en-US" sz="1300" dirty="0"/>
          </a:p>
        </p:txBody>
      </p:sp>
      <p:sp>
        <p:nvSpPr>
          <p:cNvPr id="9" name="Text 7"/>
          <p:cNvSpPr txBox="1"/>
          <p:nvPr/>
        </p:nvSpPr>
        <p:spPr>
          <a:xfrm>
            <a:off x="594360" y="4572000"/>
            <a:ext cx="5577840" cy="82296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Time and Amount describe the raw transaction, while V1–V28 are anonymized, PCA-transformed features protecting cardholder privacy.</a:t>
            </a:r>
            <a:endParaRPr lang="en-US" sz="1250" dirty="0"/>
          </a:p>
        </p:txBody>
      </p:sp>
      <p:sp>
        <p:nvSpPr>
          <p:cNvPr id="10" name="Shape 8"/>
          <p:cNvSpPr/>
          <p:nvPr/>
        </p:nvSpPr>
        <p:spPr>
          <a:xfrm>
            <a:off x="6537960" y="1783080"/>
            <a:ext cx="5029200" cy="4343400"/>
          </a:xfrm>
          <a:prstGeom prst="roundRect">
            <a:avLst>
              <a:gd name="adj" fmla="val 1684"/>
            </a:avLst>
          </a:prstGeom>
          <a:solidFill>
            <a:srgbClr val="0B1B33"/>
          </a:solidFill>
          <a:ln/>
        </p:spPr>
      </p:sp>
      <p:sp>
        <p:nvSpPr>
          <p:cNvPr id="11" name="Text 9"/>
          <p:cNvSpPr txBox="1"/>
          <p:nvPr/>
        </p:nvSpPr>
        <p:spPr>
          <a:xfrm>
            <a:off x="6858000" y="2011680"/>
            <a:ext cx="43891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 Schema</a:t>
            </a:r>
            <a:endParaRPr lang="en-US" sz="1300" dirty="0"/>
          </a:p>
        </p:txBody>
      </p:sp>
      <p:sp>
        <p:nvSpPr>
          <p:cNvPr id="12" name="Shape 10"/>
          <p:cNvSpPr/>
          <p:nvPr/>
        </p:nvSpPr>
        <p:spPr>
          <a:xfrm>
            <a:off x="6858000" y="2423160"/>
            <a:ext cx="1417320" cy="457200"/>
          </a:xfrm>
          <a:prstGeom prst="roundRect">
            <a:avLst>
              <a:gd name="adj" fmla="val 12000"/>
            </a:avLst>
          </a:prstGeom>
          <a:solidFill>
            <a:srgbClr val="13294B"/>
          </a:solidFill>
          <a:ln/>
        </p:spPr>
      </p:sp>
      <p:sp>
        <p:nvSpPr>
          <p:cNvPr id="13" name="Text 11"/>
          <p:cNvSpPr txBox="1"/>
          <p:nvPr/>
        </p:nvSpPr>
        <p:spPr>
          <a:xfrm>
            <a:off x="6858000" y="2423160"/>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Time</a:t>
            </a:r>
            <a:endParaRPr lang="en-US" sz="1050" dirty="0"/>
          </a:p>
        </p:txBody>
      </p:sp>
      <p:sp>
        <p:nvSpPr>
          <p:cNvPr id="14" name="Text 12"/>
          <p:cNvSpPr txBox="1"/>
          <p:nvPr/>
        </p:nvSpPr>
        <p:spPr>
          <a:xfrm>
            <a:off x="8412480" y="2423160"/>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Seconds since first transaction</a:t>
            </a:r>
            <a:endParaRPr lang="en-US" sz="1050" dirty="0"/>
          </a:p>
        </p:txBody>
      </p:sp>
      <p:sp>
        <p:nvSpPr>
          <p:cNvPr id="15" name="Shape 13"/>
          <p:cNvSpPr/>
          <p:nvPr/>
        </p:nvSpPr>
        <p:spPr>
          <a:xfrm>
            <a:off x="6858000" y="2999232"/>
            <a:ext cx="1417320" cy="457200"/>
          </a:xfrm>
          <a:prstGeom prst="roundRect">
            <a:avLst>
              <a:gd name="adj" fmla="val 12000"/>
            </a:avLst>
          </a:prstGeom>
          <a:solidFill>
            <a:srgbClr val="13294B"/>
          </a:solidFill>
          <a:ln/>
        </p:spPr>
      </p:sp>
      <p:sp>
        <p:nvSpPr>
          <p:cNvPr id="16" name="Text 14"/>
          <p:cNvSpPr txBox="1"/>
          <p:nvPr/>
        </p:nvSpPr>
        <p:spPr>
          <a:xfrm>
            <a:off x="6858000" y="2999232"/>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V1 – V28</a:t>
            </a:r>
            <a:endParaRPr lang="en-US" sz="1050" dirty="0"/>
          </a:p>
        </p:txBody>
      </p:sp>
      <p:sp>
        <p:nvSpPr>
          <p:cNvPr id="17" name="Text 15"/>
          <p:cNvSpPr txBox="1"/>
          <p:nvPr/>
        </p:nvSpPr>
        <p:spPr>
          <a:xfrm>
            <a:off x="8412480" y="2999232"/>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Anonymized PCA components</a:t>
            </a:r>
            <a:endParaRPr lang="en-US" sz="1050" dirty="0"/>
          </a:p>
        </p:txBody>
      </p:sp>
      <p:sp>
        <p:nvSpPr>
          <p:cNvPr id="18" name="Shape 16"/>
          <p:cNvSpPr/>
          <p:nvPr/>
        </p:nvSpPr>
        <p:spPr>
          <a:xfrm>
            <a:off x="6858000" y="3575304"/>
            <a:ext cx="1417320" cy="457200"/>
          </a:xfrm>
          <a:prstGeom prst="roundRect">
            <a:avLst>
              <a:gd name="adj" fmla="val 12000"/>
            </a:avLst>
          </a:prstGeom>
          <a:solidFill>
            <a:srgbClr val="13294B"/>
          </a:solidFill>
          <a:ln/>
        </p:spPr>
      </p:sp>
      <p:sp>
        <p:nvSpPr>
          <p:cNvPr id="19" name="Text 17"/>
          <p:cNvSpPr txBox="1"/>
          <p:nvPr/>
        </p:nvSpPr>
        <p:spPr>
          <a:xfrm>
            <a:off x="6858000" y="3575304"/>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Amount</a:t>
            </a:r>
            <a:endParaRPr lang="en-US" sz="1050" dirty="0"/>
          </a:p>
        </p:txBody>
      </p:sp>
      <p:sp>
        <p:nvSpPr>
          <p:cNvPr id="20" name="Text 18"/>
          <p:cNvSpPr txBox="1"/>
          <p:nvPr/>
        </p:nvSpPr>
        <p:spPr>
          <a:xfrm>
            <a:off x="8412480" y="3575304"/>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Transaction value ($)</a:t>
            </a:r>
            <a:endParaRPr lang="en-US" sz="1050" dirty="0"/>
          </a:p>
        </p:txBody>
      </p:sp>
      <p:sp>
        <p:nvSpPr>
          <p:cNvPr id="21" name="Shape 19"/>
          <p:cNvSpPr/>
          <p:nvPr/>
        </p:nvSpPr>
        <p:spPr>
          <a:xfrm>
            <a:off x="6858000" y="4151376"/>
            <a:ext cx="1417320" cy="457200"/>
          </a:xfrm>
          <a:prstGeom prst="roundRect">
            <a:avLst>
              <a:gd name="adj" fmla="val 12000"/>
            </a:avLst>
          </a:prstGeom>
          <a:solidFill>
            <a:srgbClr val="13294B"/>
          </a:solidFill>
          <a:ln/>
        </p:spPr>
      </p:sp>
      <p:sp>
        <p:nvSpPr>
          <p:cNvPr id="22" name="Text 20"/>
          <p:cNvSpPr txBox="1"/>
          <p:nvPr/>
        </p:nvSpPr>
        <p:spPr>
          <a:xfrm>
            <a:off x="6858000" y="4151376"/>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Class</a:t>
            </a:r>
            <a:endParaRPr lang="en-US" sz="1050" dirty="0"/>
          </a:p>
        </p:txBody>
      </p:sp>
      <p:sp>
        <p:nvSpPr>
          <p:cNvPr id="23" name="Text 21"/>
          <p:cNvSpPr txBox="1"/>
          <p:nvPr/>
        </p:nvSpPr>
        <p:spPr>
          <a:xfrm>
            <a:off x="8412480" y="4151376"/>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Target: 0 = legitimate, 1 = fraud</a:t>
            </a:r>
            <a:endParaRPr lang="en-US" sz="1050" dirty="0"/>
          </a:p>
        </p:txBody>
      </p:sp>
      <p:sp>
        <p:nvSpPr>
          <p:cNvPr id="24" name="Shape 22"/>
          <p:cNvSpPr/>
          <p:nvPr/>
        </p:nvSpPr>
        <p:spPr>
          <a:xfrm>
            <a:off x="6858000" y="4800600"/>
            <a:ext cx="4389120" cy="0"/>
          </a:xfrm>
          <a:prstGeom prst="line">
            <a:avLst/>
          </a:prstGeom>
          <a:noFill/>
          <a:ln w="12700">
            <a:solidFill>
              <a:srgbClr val="2E5A9C"/>
            </a:solidFill>
            <a:prstDash val="dash"/>
          </a:ln>
        </p:spPr>
      </p:sp>
      <p:sp>
        <p:nvSpPr>
          <p:cNvPr id="25" name="Text 23"/>
          <p:cNvSpPr txBox="1"/>
          <p:nvPr/>
        </p:nvSpPr>
        <p:spPr>
          <a:xfrm>
            <a:off x="6858000" y="4983480"/>
            <a:ext cx="2103120" cy="548640"/>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284,807</a:t>
            </a:r>
            <a:endParaRPr lang="en-US" sz="2400" dirty="0"/>
          </a:p>
        </p:txBody>
      </p:sp>
      <p:sp>
        <p:nvSpPr>
          <p:cNvPr id="26" name="Text 24"/>
          <p:cNvSpPr txBox="1"/>
          <p:nvPr/>
        </p:nvSpPr>
        <p:spPr>
          <a:xfrm>
            <a:off x="6858000" y="5532120"/>
            <a:ext cx="2103120" cy="274320"/>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Rows</a:t>
            </a:r>
            <a:endParaRPr lang="en-US" sz="1050" dirty="0"/>
          </a:p>
        </p:txBody>
      </p:sp>
      <p:sp>
        <p:nvSpPr>
          <p:cNvPr id="27" name="Text 25"/>
          <p:cNvSpPr txBox="1"/>
          <p:nvPr/>
        </p:nvSpPr>
        <p:spPr>
          <a:xfrm>
            <a:off x="9052560" y="4983480"/>
            <a:ext cx="2103120" cy="548640"/>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31</a:t>
            </a:r>
            <a:endParaRPr lang="en-US" sz="2400" dirty="0"/>
          </a:p>
        </p:txBody>
      </p:sp>
      <p:sp>
        <p:nvSpPr>
          <p:cNvPr id="28" name="Text 26"/>
          <p:cNvSpPr txBox="1"/>
          <p:nvPr/>
        </p:nvSpPr>
        <p:spPr>
          <a:xfrm>
            <a:off x="9052560" y="5532120"/>
            <a:ext cx="2103120" cy="274320"/>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Columns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 UNDERSTANDING</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Getting to Know the Dataset</a:t>
            </a:r>
            <a:endParaRPr lang="en-US" sz="2800" dirty="0"/>
          </a:p>
        </p:txBody>
      </p:sp>
      <p:sp>
        <p:nvSpPr>
          <p:cNvPr id="4" name="Shape 2"/>
          <p:cNvSpPr/>
          <p:nvPr/>
        </p:nvSpPr>
        <p:spPr>
          <a:xfrm>
            <a:off x="59436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82296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284,807</a:t>
            </a:r>
            <a:endParaRPr lang="en-US" sz="2200" dirty="0"/>
          </a:p>
        </p:txBody>
      </p:sp>
      <p:sp>
        <p:nvSpPr>
          <p:cNvPr id="6" name="Text 4"/>
          <p:cNvSpPr txBox="1"/>
          <p:nvPr/>
        </p:nvSpPr>
        <p:spPr>
          <a:xfrm>
            <a:off x="82296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Records</a:t>
            </a:r>
            <a:endParaRPr lang="en-US" sz="1150" dirty="0"/>
          </a:p>
        </p:txBody>
      </p:sp>
      <p:sp>
        <p:nvSpPr>
          <p:cNvPr id="7" name="Shape 5"/>
          <p:cNvSpPr/>
          <p:nvPr/>
        </p:nvSpPr>
        <p:spPr>
          <a:xfrm>
            <a:off x="438912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8" name="Text 6"/>
          <p:cNvSpPr txBox="1"/>
          <p:nvPr/>
        </p:nvSpPr>
        <p:spPr>
          <a:xfrm>
            <a:off x="461772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31</a:t>
            </a:r>
            <a:endParaRPr lang="en-US" sz="2200" dirty="0"/>
          </a:p>
        </p:txBody>
      </p:sp>
      <p:sp>
        <p:nvSpPr>
          <p:cNvPr id="9" name="Text 7"/>
          <p:cNvSpPr txBox="1"/>
          <p:nvPr/>
        </p:nvSpPr>
        <p:spPr>
          <a:xfrm>
            <a:off x="461772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Features (incl. target)</a:t>
            </a:r>
            <a:endParaRPr lang="en-US" sz="1150" dirty="0"/>
          </a:p>
        </p:txBody>
      </p:sp>
      <p:sp>
        <p:nvSpPr>
          <p:cNvPr id="10" name="Shape 8"/>
          <p:cNvSpPr/>
          <p:nvPr/>
        </p:nvSpPr>
        <p:spPr>
          <a:xfrm>
            <a:off x="818388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1" name="Text 9"/>
          <p:cNvSpPr txBox="1"/>
          <p:nvPr/>
        </p:nvSpPr>
        <p:spPr>
          <a:xfrm>
            <a:off x="841248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Numeric</a:t>
            </a:r>
            <a:endParaRPr lang="en-US" sz="2200" dirty="0"/>
          </a:p>
        </p:txBody>
      </p:sp>
      <p:sp>
        <p:nvSpPr>
          <p:cNvPr id="12" name="Text 10"/>
          <p:cNvSpPr txBox="1"/>
          <p:nvPr/>
        </p:nvSpPr>
        <p:spPr>
          <a:xfrm>
            <a:off x="841248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Data Types (all float / int)</a:t>
            </a:r>
            <a:endParaRPr lang="en-US" sz="1150" dirty="0"/>
          </a:p>
        </p:txBody>
      </p:sp>
      <p:sp>
        <p:nvSpPr>
          <p:cNvPr id="13" name="Shape 11"/>
          <p:cNvSpPr/>
          <p:nvPr/>
        </p:nvSpPr>
        <p:spPr>
          <a:xfrm>
            <a:off x="59436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4" name="Text 12"/>
          <p:cNvSpPr txBox="1"/>
          <p:nvPr/>
        </p:nvSpPr>
        <p:spPr>
          <a:xfrm>
            <a:off x="82296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0</a:t>
            </a:r>
            <a:endParaRPr lang="en-US" sz="2200" dirty="0"/>
          </a:p>
        </p:txBody>
      </p:sp>
      <p:sp>
        <p:nvSpPr>
          <p:cNvPr id="15" name="Text 13"/>
          <p:cNvSpPr txBox="1"/>
          <p:nvPr/>
        </p:nvSpPr>
        <p:spPr>
          <a:xfrm>
            <a:off x="82296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Missing Values</a:t>
            </a:r>
            <a:endParaRPr lang="en-US" sz="1150" dirty="0"/>
          </a:p>
        </p:txBody>
      </p:sp>
      <p:sp>
        <p:nvSpPr>
          <p:cNvPr id="16" name="Shape 14"/>
          <p:cNvSpPr/>
          <p:nvPr/>
        </p:nvSpPr>
        <p:spPr>
          <a:xfrm>
            <a:off x="438912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7" name="Text 15"/>
          <p:cNvSpPr txBox="1"/>
          <p:nvPr/>
        </p:nvSpPr>
        <p:spPr>
          <a:xfrm>
            <a:off x="461772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1,081</a:t>
            </a:r>
            <a:endParaRPr lang="en-US" sz="2200" dirty="0"/>
          </a:p>
        </p:txBody>
      </p:sp>
      <p:sp>
        <p:nvSpPr>
          <p:cNvPr id="18" name="Text 16"/>
          <p:cNvSpPr txBox="1"/>
          <p:nvPr/>
        </p:nvSpPr>
        <p:spPr>
          <a:xfrm>
            <a:off x="461772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Duplicate Rows</a:t>
            </a:r>
            <a:endParaRPr lang="en-US" sz="1150" dirty="0"/>
          </a:p>
        </p:txBody>
      </p:sp>
      <p:sp>
        <p:nvSpPr>
          <p:cNvPr id="19" name="Shape 17"/>
          <p:cNvSpPr/>
          <p:nvPr/>
        </p:nvSpPr>
        <p:spPr>
          <a:xfrm>
            <a:off x="818388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20" name="Text 18"/>
          <p:cNvSpPr txBox="1"/>
          <p:nvPr/>
        </p:nvSpPr>
        <p:spPr>
          <a:xfrm>
            <a:off x="841248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2</a:t>
            </a:r>
            <a:endParaRPr lang="en-US" sz="2200" dirty="0"/>
          </a:p>
        </p:txBody>
      </p:sp>
      <p:sp>
        <p:nvSpPr>
          <p:cNvPr id="21" name="Text 19"/>
          <p:cNvSpPr txBox="1"/>
          <p:nvPr/>
        </p:nvSpPr>
        <p:spPr>
          <a:xfrm>
            <a:off x="841248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Unique Classes</a:t>
            </a:r>
            <a:endParaRPr lang="en-US" sz="1150" dirty="0"/>
          </a:p>
        </p:txBody>
      </p:sp>
      <p:sp>
        <p:nvSpPr>
          <p:cNvPr id="22" name="Shape 20"/>
          <p:cNvSpPr/>
          <p:nvPr/>
        </p:nvSpPr>
        <p:spPr>
          <a:xfrm>
            <a:off x="594360" y="5257800"/>
            <a:ext cx="10744200" cy="1097280"/>
          </a:xfrm>
          <a:prstGeom prst="roundRect">
            <a:avLst>
              <a:gd name="adj" fmla="val 6667"/>
            </a:avLst>
          </a:prstGeom>
          <a:solidFill>
            <a:srgbClr val="0B1B33"/>
          </a:solidFill>
          <a:ln/>
        </p:spPr>
      </p:sp>
      <p:sp>
        <p:nvSpPr>
          <p:cNvPr id="23" name="Text 21"/>
          <p:cNvSpPr txBox="1"/>
          <p:nvPr/>
        </p:nvSpPr>
        <p:spPr>
          <a:xfrm>
            <a:off x="868680" y="5394960"/>
            <a:ext cx="3291840" cy="822960"/>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Statistical Summary &amp; Distributions</a:t>
            </a:r>
            <a:endParaRPr lang="en-US" sz="1350" dirty="0"/>
          </a:p>
        </p:txBody>
      </p:sp>
      <p:sp>
        <p:nvSpPr>
          <p:cNvPr id="24" name="Text 22"/>
          <p:cNvSpPr txBox="1"/>
          <p:nvPr/>
        </p:nvSpPr>
        <p:spPr>
          <a:xfrm>
            <a:off x="4343400" y="5394960"/>
            <a:ext cx="6766560" cy="822960"/>
          </a:xfrm>
          <a:prstGeom prst="rect">
            <a:avLst/>
          </a:prstGeom>
          <a:noFill/>
          <a:ln/>
        </p:spPr>
        <p:txBody>
          <a:bodyPr wrap="square" lIns="0" tIns="0" rIns="0" bIns="0" rtlCol="0" anchor="ctr"/>
          <a:lstStyle/>
          <a:p>
            <a:pPr marL="0" indent="0">
              <a:lnSpc>
                <a:spcPct val="125000"/>
              </a:lnSpc>
              <a:buNone/>
            </a:pPr>
            <a:r>
              <a:rPr lang="en-US" sz="1150" dirty="0">
                <a:solidFill>
                  <a:srgbClr val="AFC6E9"/>
                </a:solidFill>
                <a:latin typeface="Calibri" pitchFamily="34" charset="0"/>
                <a:ea typeface="Calibri" pitchFamily="34" charset="-122"/>
                <a:cs typeface="Calibri" pitchFamily="34" charset="-120"/>
              </a:rPr>
              <a:t>df.describe() shows Amount ranging from $0 to $25,691 (right-skewed, mean ≈ $88); Time spans ~48 hours; most V1–V28 features are centered near 0 with unit-scale variance — explored visually in the EDA section.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 PREPROCESSING</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Cleaning and Preparing the Data</a:t>
            </a:r>
            <a:endParaRPr lang="en-US" sz="2800" dirty="0"/>
          </a:p>
        </p:txBody>
      </p:sp>
      <p:sp>
        <p:nvSpPr>
          <p:cNvPr id="4" name="Shape 2"/>
          <p:cNvSpPr/>
          <p:nvPr/>
        </p:nvSpPr>
        <p:spPr>
          <a:xfrm>
            <a:off x="594360" y="1783080"/>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5" name="Shape 3"/>
          <p:cNvSpPr/>
          <p:nvPr/>
        </p:nvSpPr>
        <p:spPr>
          <a:xfrm>
            <a:off x="850392" y="1965960"/>
            <a:ext cx="457200" cy="457200"/>
          </a:xfrm>
          <a:prstGeom prst="ellipse">
            <a:avLst/>
          </a:prstGeom>
          <a:solidFill>
            <a:srgbClr val="0B1B33"/>
          </a:solidFill>
          <a:ln/>
        </p:spPr>
      </p:sp>
      <p:sp>
        <p:nvSpPr>
          <p:cNvPr id="6" name="Text 4"/>
          <p:cNvSpPr txBox="1"/>
          <p:nvPr/>
        </p:nvSpPr>
        <p:spPr>
          <a:xfrm>
            <a:off x="850392"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508760" y="1938528"/>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Missing Values</a:t>
            </a:r>
            <a:endParaRPr lang="en-US" sz="1350" dirty="0"/>
          </a:p>
        </p:txBody>
      </p:sp>
      <p:sp>
        <p:nvSpPr>
          <p:cNvPr id="8" name="Text 6"/>
          <p:cNvSpPr txBox="1"/>
          <p:nvPr/>
        </p:nvSpPr>
        <p:spPr>
          <a:xfrm>
            <a:off x="1508760" y="2240280"/>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Checked with df.isnull().sum() — none found, so no imputation was required.</a:t>
            </a:r>
            <a:endParaRPr lang="en-US" sz="1100" dirty="0"/>
          </a:p>
        </p:txBody>
      </p:sp>
      <p:sp>
        <p:nvSpPr>
          <p:cNvPr id="9" name="Shape 7"/>
          <p:cNvSpPr/>
          <p:nvPr/>
        </p:nvSpPr>
        <p:spPr>
          <a:xfrm>
            <a:off x="6126480" y="1783080"/>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10" name="Shape 8"/>
          <p:cNvSpPr/>
          <p:nvPr/>
        </p:nvSpPr>
        <p:spPr>
          <a:xfrm>
            <a:off x="6382512" y="1965960"/>
            <a:ext cx="457200" cy="457200"/>
          </a:xfrm>
          <a:prstGeom prst="ellipse">
            <a:avLst/>
          </a:prstGeom>
          <a:solidFill>
            <a:srgbClr val="0B1B33"/>
          </a:solidFill>
          <a:ln/>
        </p:spPr>
      </p:sp>
      <p:sp>
        <p:nvSpPr>
          <p:cNvPr id="11" name="Text 9"/>
          <p:cNvSpPr txBox="1"/>
          <p:nvPr/>
        </p:nvSpPr>
        <p:spPr>
          <a:xfrm>
            <a:off x="6382512"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40880" y="1938528"/>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Duplicate Records</a:t>
            </a:r>
            <a:endParaRPr lang="en-US" sz="1350" dirty="0"/>
          </a:p>
        </p:txBody>
      </p:sp>
      <p:sp>
        <p:nvSpPr>
          <p:cNvPr id="13" name="Text 11"/>
          <p:cNvSpPr txBox="1"/>
          <p:nvPr/>
        </p:nvSpPr>
        <p:spPr>
          <a:xfrm>
            <a:off x="7040880" y="2240280"/>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1,081 duplicate rows identified and removed with drop_duplicates() to prevent data leakage.</a:t>
            </a:r>
            <a:endParaRPr lang="en-US" sz="1100" dirty="0"/>
          </a:p>
        </p:txBody>
      </p:sp>
      <p:sp>
        <p:nvSpPr>
          <p:cNvPr id="14" name="Shape 12"/>
          <p:cNvSpPr/>
          <p:nvPr/>
        </p:nvSpPr>
        <p:spPr>
          <a:xfrm>
            <a:off x="594360" y="3182112"/>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15" name="Shape 13"/>
          <p:cNvSpPr/>
          <p:nvPr/>
        </p:nvSpPr>
        <p:spPr>
          <a:xfrm>
            <a:off x="850392" y="3364992"/>
            <a:ext cx="457200" cy="457200"/>
          </a:xfrm>
          <a:prstGeom prst="ellipse">
            <a:avLst/>
          </a:prstGeom>
          <a:solidFill>
            <a:srgbClr val="0B1B33"/>
          </a:solidFill>
          <a:ln/>
        </p:spPr>
      </p:sp>
      <p:sp>
        <p:nvSpPr>
          <p:cNvPr id="16" name="Text 14"/>
          <p:cNvSpPr txBox="1"/>
          <p:nvPr/>
        </p:nvSpPr>
        <p:spPr>
          <a:xfrm>
            <a:off x="850392" y="33649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508760" y="3337560"/>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Outliers</a:t>
            </a:r>
            <a:endParaRPr lang="en-US" sz="1350" dirty="0"/>
          </a:p>
        </p:txBody>
      </p:sp>
      <p:sp>
        <p:nvSpPr>
          <p:cNvPr id="18" name="Text 16"/>
          <p:cNvSpPr txBox="1"/>
          <p:nvPr/>
        </p:nvSpPr>
        <p:spPr>
          <a:xfrm>
            <a:off x="1508760" y="3639312"/>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Extreme Amount values reviewed via boxplots; retained since large transactions can be genuine fraud signals.</a:t>
            </a:r>
            <a:endParaRPr lang="en-US" sz="1100" dirty="0"/>
          </a:p>
        </p:txBody>
      </p:sp>
      <p:sp>
        <p:nvSpPr>
          <p:cNvPr id="19" name="Shape 17"/>
          <p:cNvSpPr/>
          <p:nvPr/>
        </p:nvSpPr>
        <p:spPr>
          <a:xfrm>
            <a:off x="6126480" y="3182112"/>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20" name="Shape 18"/>
          <p:cNvSpPr/>
          <p:nvPr/>
        </p:nvSpPr>
        <p:spPr>
          <a:xfrm>
            <a:off x="6382512" y="3364992"/>
            <a:ext cx="457200" cy="457200"/>
          </a:xfrm>
          <a:prstGeom prst="ellipse">
            <a:avLst/>
          </a:prstGeom>
          <a:solidFill>
            <a:srgbClr val="0B1B33"/>
          </a:solidFill>
          <a:ln/>
        </p:spPr>
      </p:sp>
      <p:sp>
        <p:nvSpPr>
          <p:cNvPr id="21" name="Text 19"/>
          <p:cNvSpPr txBox="1"/>
          <p:nvPr/>
        </p:nvSpPr>
        <p:spPr>
          <a:xfrm>
            <a:off x="6382512" y="33649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40880" y="3337560"/>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Incorrect Data</a:t>
            </a:r>
            <a:endParaRPr lang="en-US" sz="1350" dirty="0"/>
          </a:p>
        </p:txBody>
      </p:sp>
      <p:sp>
        <p:nvSpPr>
          <p:cNvPr id="23" name="Text 21"/>
          <p:cNvSpPr txBox="1"/>
          <p:nvPr/>
        </p:nvSpPr>
        <p:spPr>
          <a:xfrm>
            <a:off x="7040880" y="3639312"/>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Verified Time and Amount are non-negative and Class contains only {0, 1}, with no invalid entries.</a:t>
            </a:r>
            <a:endParaRPr lang="en-US" sz="1100" dirty="0"/>
          </a:p>
        </p:txBody>
      </p:sp>
      <p:sp>
        <p:nvSpPr>
          <p:cNvPr id="24" name="Shape 22"/>
          <p:cNvSpPr/>
          <p:nvPr/>
        </p:nvSpPr>
        <p:spPr>
          <a:xfrm>
            <a:off x="594360" y="4581144"/>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25" name="Shape 23"/>
          <p:cNvSpPr/>
          <p:nvPr/>
        </p:nvSpPr>
        <p:spPr>
          <a:xfrm>
            <a:off x="850392" y="4764024"/>
            <a:ext cx="457200" cy="457200"/>
          </a:xfrm>
          <a:prstGeom prst="ellipse">
            <a:avLst/>
          </a:prstGeom>
          <a:solidFill>
            <a:srgbClr val="0B1B33"/>
          </a:solidFill>
          <a:ln/>
        </p:spPr>
      </p:sp>
      <p:sp>
        <p:nvSpPr>
          <p:cNvPr id="26" name="Text 24"/>
          <p:cNvSpPr txBox="1"/>
          <p:nvPr/>
        </p:nvSpPr>
        <p:spPr>
          <a:xfrm>
            <a:off x="850392" y="47640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508760" y="4736592"/>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Categorical Variables</a:t>
            </a:r>
            <a:endParaRPr lang="en-US" sz="1350" dirty="0"/>
          </a:p>
        </p:txBody>
      </p:sp>
      <p:sp>
        <p:nvSpPr>
          <p:cNvPr id="28" name="Text 26"/>
          <p:cNvSpPr txBox="1"/>
          <p:nvPr/>
        </p:nvSpPr>
        <p:spPr>
          <a:xfrm>
            <a:off x="1508760" y="5038344"/>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None present — all features are numeric, so no encoding step was needed.</a:t>
            </a:r>
            <a:endParaRPr lang="en-US" sz="1100" dirty="0"/>
          </a:p>
        </p:txBody>
      </p:sp>
      <p:sp>
        <p:nvSpPr>
          <p:cNvPr id="29" name="Shape 27"/>
          <p:cNvSpPr/>
          <p:nvPr/>
        </p:nvSpPr>
        <p:spPr>
          <a:xfrm>
            <a:off x="6126480" y="4581144"/>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30" name="Shape 28"/>
          <p:cNvSpPr/>
          <p:nvPr/>
        </p:nvSpPr>
        <p:spPr>
          <a:xfrm>
            <a:off x="6382512" y="4764024"/>
            <a:ext cx="457200" cy="457200"/>
          </a:xfrm>
          <a:prstGeom prst="ellipse">
            <a:avLst/>
          </a:prstGeom>
          <a:solidFill>
            <a:srgbClr val="0B1B33"/>
          </a:solidFill>
          <a:ln/>
        </p:spPr>
      </p:sp>
      <p:sp>
        <p:nvSpPr>
          <p:cNvPr id="31" name="Text 29"/>
          <p:cNvSpPr txBox="1"/>
          <p:nvPr/>
        </p:nvSpPr>
        <p:spPr>
          <a:xfrm>
            <a:off x="6382512" y="47640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7040880" y="4736592"/>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Numerical Variables</a:t>
            </a:r>
            <a:endParaRPr lang="en-US" sz="1350" dirty="0"/>
          </a:p>
        </p:txBody>
      </p:sp>
      <p:sp>
        <p:nvSpPr>
          <p:cNvPr id="33" name="Text 31"/>
          <p:cNvSpPr txBox="1"/>
          <p:nvPr/>
        </p:nvSpPr>
        <p:spPr>
          <a:xfrm>
            <a:off x="7040880" y="5038344"/>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Time and Amount were standardized with StandardScaler so their scale matches the already-scaled V1–V28 features.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Class Imbalance at a Glance</a:t>
            </a:r>
            <a:endParaRPr lang="en-US" sz="2800" dirty="0"/>
          </a:p>
        </p:txBody>
      </p:sp>
      <p:sp>
        <p:nvSpPr>
          <p:cNvPr id="4" name="Text 2"/>
          <p:cNvSpPr txBox="1"/>
          <p:nvPr/>
        </p:nvSpPr>
        <p:spPr>
          <a:xfrm>
            <a:off x="594360" y="1691640"/>
            <a:ext cx="420624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Class Distribution</a:t>
            </a:r>
            <a:endParaRPr lang="en-US" sz="1300" dirty="0"/>
          </a:p>
        </p:txBody>
      </p:sp>
      <p:graphicFrame>
        <p:nvGraphicFramePr>
          <p:cNvPr id="5" name="Chart 0"/>
          <p:cNvGraphicFramePr/>
          <p:nvPr/>
        </p:nvGraphicFramePr>
        <p:xfrm>
          <a:off x="457200" y="2011680"/>
          <a:ext cx="44805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94360" y="5166360"/>
            <a:ext cx="4206240" cy="685800"/>
          </a:xfrm>
          <a:prstGeom prst="rect">
            <a:avLst/>
          </a:prstGeom>
          <a:noFill/>
          <a:ln/>
        </p:spPr>
        <p:txBody>
          <a:bodyPr wrap="square" lIns="0" tIns="0" rIns="0" bIns="0" rtlCol="0" anchor="ctr"/>
          <a:lstStyle/>
          <a:p>
            <a:pPr marL="0" indent="0">
              <a:lnSpc>
                <a:spcPct val="125000"/>
              </a:lnSpc>
              <a:buNone/>
            </a:pPr>
            <a:r>
              <a:rPr lang="en-US" sz="1150" i="1" dirty="0">
                <a:solidFill>
                  <a:srgbClr val="6B7688"/>
                </a:solidFill>
                <a:latin typeface="Calibri" pitchFamily="34" charset="0"/>
                <a:ea typeface="Calibri" pitchFamily="34" charset="-122"/>
                <a:cs typeface="Calibri" pitchFamily="34" charset="-120"/>
              </a:rPr>
              <a:t>Fraud cases make up only ~0.17% of all transactions — a textbook class-imbalance problem.</a:t>
            </a:r>
            <a:endParaRPr lang="en-US" sz="1150" dirty="0"/>
          </a:p>
        </p:txBody>
      </p:sp>
      <p:sp>
        <p:nvSpPr>
          <p:cNvPr id="7" name="Shape 4"/>
          <p:cNvSpPr/>
          <p:nvPr/>
        </p:nvSpPr>
        <p:spPr>
          <a:xfrm>
            <a:off x="5349240" y="1691640"/>
            <a:ext cx="457200" cy="457200"/>
          </a:xfrm>
          <a:prstGeom prst="ellipse">
            <a:avLst/>
          </a:prstGeom>
          <a:solidFill>
            <a:srgbClr val="0B1B33"/>
          </a:solidFill>
          <a:ln/>
        </p:spPr>
      </p:sp>
      <p:sp>
        <p:nvSpPr>
          <p:cNvPr id="8" name="Text 5"/>
          <p:cNvSpPr txBox="1"/>
          <p:nvPr/>
        </p:nvSpPr>
        <p:spPr>
          <a:xfrm>
            <a:off x="5349240" y="1691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6007608" y="1664208"/>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Severe Class Imbalance</a:t>
            </a:r>
            <a:endParaRPr lang="en-US" sz="1350" dirty="0"/>
          </a:p>
        </p:txBody>
      </p:sp>
      <p:sp>
        <p:nvSpPr>
          <p:cNvPr id="10" name="Text 7"/>
          <p:cNvSpPr txBox="1"/>
          <p:nvPr/>
        </p:nvSpPr>
        <p:spPr>
          <a:xfrm>
            <a:off x="6007608" y="1965960"/>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Roughly 492 fraud cases out of 284,807 transactions — models need resampling or weighting to avoid bias.</a:t>
            </a:r>
            <a:endParaRPr lang="en-US" sz="1100" dirty="0"/>
          </a:p>
        </p:txBody>
      </p:sp>
      <p:sp>
        <p:nvSpPr>
          <p:cNvPr id="11" name="Shape 8"/>
          <p:cNvSpPr/>
          <p:nvPr/>
        </p:nvSpPr>
        <p:spPr>
          <a:xfrm>
            <a:off x="5349240" y="2770632"/>
            <a:ext cx="457200" cy="457200"/>
          </a:xfrm>
          <a:prstGeom prst="ellipse">
            <a:avLst/>
          </a:prstGeom>
          <a:solidFill>
            <a:srgbClr val="0B1B33"/>
          </a:solidFill>
          <a:ln/>
        </p:spPr>
      </p:sp>
      <p:sp>
        <p:nvSpPr>
          <p:cNvPr id="12" name="Text 9"/>
          <p:cNvSpPr txBox="1"/>
          <p:nvPr/>
        </p:nvSpPr>
        <p:spPr>
          <a:xfrm>
            <a:off x="5349240" y="27706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6007608" y="2743200"/>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PCA-Transformed Features</a:t>
            </a:r>
            <a:endParaRPr lang="en-US" sz="1350" dirty="0"/>
          </a:p>
        </p:txBody>
      </p:sp>
      <p:sp>
        <p:nvSpPr>
          <p:cNvPr id="14" name="Text 11"/>
          <p:cNvSpPr txBox="1"/>
          <p:nvPr/>
        </p:nvSpPr>
        <p:spPr>
          <a:xfrm>
            <a:off x="6007608" y="3044952"/>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Features V1–V28 are anonymized principal components, already decorrelated and roughly scaled.</a:t>
            </a:r>
            <a:endParaRPr lang="en-US" sz="1100" dirty="0"/>
          </a:p>
        </p:txBody>
      </p:sp>
      <p:sp>
        <p:nvSpPr>
          <p:cNvPr id="15" name="Shape 12"/>
          <p:cNvSpPr/>
          <p:nvPr/>
        </p:nvSpPr>
        <p:spPr>
          <a:xfrm>
            <a:off x="5349240" y="3849624"/>
            <a:ext cx="457200" cy="457200"/>
          </a:xfrm>
          <a:prstGeom prst="ellipse">
            <a:avLst/>
          </a:prstGeom>
          <a:solidFill>
            <a:srgbClr val="0B1B33"/>
          </a:solidFill>
          <a:ln/>
        </p:spPr>
      </p:sp>
      <p:sp>
        <p:nvSpPr>
          <p:cNvPr id="16" name="Text 13"/>
          <p:cNvSpPr txBox="1"/>
          <p:nvPr/>
        </p:nvSpPr>
        <p:spPr>
          <a:xfrm>
            <a:off x="5349240" y="38496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6007608" y="3822192"/>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Raw-Scale Outliers</a:t>
            </a:r>
            <a:endParaRPr lang="en-US" sz="1350" dirty="0"/>
          </a:p>
        </p:txBody>
      </p:sp>
      <p:sp>
        <p:nvSpPr>
          <p:cNvPr id="18" name="Text 15"/>
          <p:cNvSpPr txBox="1"/>
          <p:nvPr/>
        </p:nvSpPr>
        <p:spPr>
          <a:xfrm>
            <a:off x="6007608" y="4123944"/>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'Time' and 'Amount' remain in their original scale and need standardization before modeling.</a:t>
            </a:r>
            <a:endParaRPr lang="en-US" sz="1100" dirty="0"/>
          </a:p>
        </p:txBody>
      </p:sp>
      <p:sp>
        <p:nvSpPr>
          <p:cNvPr id="19" name="Shape 16"/>
          <p:cNvSpPr/>
          <p:nvPr/>
        </p:nvSpPr>
        <p:spPr>
          <a:xfrm>
            <a:off x="5349240" y="4928616"/>
            <a:ext cx="457200" cy="457200"/>
          </a:xfrm>
          <a:prstGeom prst="ellipse">
            <a:avLst/>
          </a:prstGeom>
          <a:solidFill>
            <a:srgbClr val="0B1B33"/>
          </a:solidFill>
          <a:ln/>
        </p:spPr>
      </p:sp>
      <p:sp>
        <p:nvSpPr>
          <p:cNvPr id="20" name="Text 17"/>
          <p:cNvSpPr txBox="1"/>
          <p:nvPr/>
        </p:nvSpPr>
        <p:spPr>
          <a:xfrm>
            <a:off x="5349240" y="492861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6007608" y="4901184"/>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No Significant Missing Data</a:t>
            </a:r>
            <a:endParaRPr lang="en-US" sz="1350" dirty="0"/>
          </a:p>
        </p:txBody>
      </p:sp>
      <p:sp>
        <p:nvSpPr>
          <p:cNvPr id="22" name="Text 19"/>
          <p:cNvSpPr txBox="1"/>
          <p:nvPr/>
        </p:nvSpPr>
        <p:spPr>
          <a:xfrm>
            <a:off x="6007608" y="5202936"/>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The dataset is largely complete, so preprocessing focuses on scaling and balancing rather than imputation.</a:t>
            </a:r>
            <a:endParaRPr lang="en-US" sz="1100" dirty="0"/>
          </a:p>
        </p:txBody>
      </p:sp>
      <p:sp>
        <p:nvSpPr>
          <p:cNvPr id="23" name="Shape 20"/>
          <p:cNvSpPr/>
          <p:nvPr/>
        </p:nvSpPr>
        <p:spPr>
          <a:xfrm>
            <a:off x="594360" y="6035040"/>
            <a:ext cx="2606040" cy="685800"/>
          </a:xfrm>
          <a:prstGeom prst="roundRect">
            <a:avLst>
              <a:gd name="adj" fmla="val 9333"/>
            </a:avLst>
          </a:prstGeom>
          <a:solidFill>
            <a:srgbClr val="0B1B33"/>
          </a:solidFill>
          <a:ln/>
        </p:spPr>
      </p:sp>
      <p:sp>
        <p:nvSpPr>
          <p:cNvPr id="24" name="Text 21"/>
          <p:cNvSpPr txBox="1"/>
          <p:nvPr/>
        </p:nvSpPr>
        <p:spPr>
          <a:xfrm>
            <a:off x="758952"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284,807</a:t>
            </a:r>
            <a:endParaRPr lang="en-US" sz="1800" dirty="0"/>
          </a:p>
        </p:txBody>
      </p:sp>
      <p:sp>
        <p:nvSpPr>
          <p:cNvPr id="25" name="Text 22"/>
          <p:cNvSpPr txBox="1"/>
          <p:nvPr/>
        </p:nvSpPr>
        <p:spPr>
          <a:xfrm>
            <a:off x="1783080"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Total Transactions</a:t>
            </a:r>
            <a:endParaRPr lang="en-US" sz="950" dirty="0"/>
          </a:p>
        </p:txBody>
      </p:sp>
      <p:sp>
        <p:nvSpPr>
          <p:cNvPr id="26" name="Shape 23"/>
          <p:cNvSpPr/>
          <p:nvPr/>
        </p:nvSpPr>
        <p:spPr>
          <a:xfrm>
            <a:off x="3364992" y="6035040"/>
            <a:ext cx="2606040" cy="685800"/>
          </a:xfrm>
          <a:prstGeom prst="roundRect">
            <a:avLst>
              <a:gd name="adj" fmla="val 9333"/>
            </a:avLst>
          </a:prstGeom>
          <a:solidFill>
            <a:srgbClr val="0B1B33"/>
          </a:solidFill>
          <a:ln/>
        </p:spPr>
      </p:sp>
      <p:sp>
        <p:nvSpPr>
          <p:cNvPr id="27" name="Text 24"/>
          <p:cNvSpPr txBox="1"/>
          <p:nvPr/>
        </p:nvSpPr>
        <p:spPr>
          <a:xfrm>
            <a:off x="3529584"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492</a:t>
            </a:r>
            <a:endParaRPr lang="en-US" sz="1800" dirty="0"/>
          </a:p>
        </p:txBody>
      </p:sp>
      <p:sp>
        <p:nvSpPr>
          <p:cNvPr id="28" name="Text 25"/>
          <p:cNvSpPr txBox="1"/>
          <p:nvPr/>
        </p:nvSpPr>
        <p:spPr>
          <a:xfrm>
            <a:off x="4553712"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Fraud Cases</a:t>
            </a:r>
            <a:endParaRPr lang="en-US" sz="950" dirty="0"/>
          </a:p>
        </p:txBody>
      </p:sp>
      <p:sp>
        <p:nvSpPr>
          <p:cNvPr id="29" name="Shape 26"/>
          <p:cNvSpPr/>
          <p:nvPr/>
        </p:nvSpPr>
        <p:spPr>
          <a:xfrm>
            <a:off x="6135624" y="6035040"/>
            <a:ext cx="2606040" cy="685800"/>
          </a:xfrm>
          <a:prstGeom prst="roundRect">
            <a:avLst>
              <a:gd name="adj" fmla="val 9333"/>
            </a:avLst>
          </a:prstGeom>
          <a:solidFill>
            <a:srgbClr val="0B1B33"/>
          </a:solidFill>
          <a:ln/>
        </p:spPr>
      </p:sp>
      <p:sp>
        <p:nvSpPr>
          <p:cNvPr id="30" name="Text 27"/>
          <p:cNvSpPr txBox="1"/>
          <p:nvPr/>
        </p:nvSpPr>
        <p:spPr>
          <a:xfrm>
            <a:off x="6300216"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30</a:t>
            </a:r>
            <a:endParaRPr lang="en-US" sz="1800" dirty="0"/>
          </a:p>
        </p:txBody>
      </p:sp>
      <p:sp>
        <p:nvSpPr>
          <p:cNvPr id="31" name="Text 28"/>
          <p:cNvSpPr txBox="1"/>
          <p:nvPr/>
        </p:nvSpPr>
        <p:spPr>
          <a:xfrm>
            <a:off x="7324344"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Features</a:t>
            </a:r>
            <a:endParaRPr lang="en-US" sz="950" dirty="0"/>
          </a:p>
        </p:txBody>
      </p:sp>
      <p:sp>
        <p:nvSpPr>
          <p:cNvPr id="32" name="Shape 29"/>
          <p:cNvSpPr/>
          <p:nvPr/>
        </p:nvSpPr>
        <p:spPr>
          <a:xfrm>
            <a:off x="8906256" y="6035040"/>
            <a:ext cx="2606040" cy="685800"/>
          </a:xfrm>
          <a:prstGeom prst="roundRect">
            <a:avLst>
              <a:gd name="adj" fmla="val 9333"/>
            </a:avLst>
          </a:prstGeom>
          <a:solidFill>
            <a:srgbClr val="0B1B33"/>
          </a:solidFill>
          <a:ln/>
        </p:spPr>
      </p:sp>
      <p:sp>
        <p:nvSpPr>
          <p:cNvPr id="33" name="Text 30"/>
          <p:cNvSpPr txBox="1"/>
          <p:nvPr/>
        </p:nvSpPr>
        <p:spPr>
          <a:xfrm>
            <a:off x="9070848"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0.17%</a:t>
            </a:r>
            <a:endParaRPr lang="en-US" sz="1800" dirty="0"/>
          </a:p>
        </p:txBody>
      </p:sp>
      <p:sp>
        <p:nvSpPr>
          <p:cNvPr id="34" name="Text 31"/>
          <p:cNvSpPr txBox="1"/>
          <p:nvPr/>
        </p:nvSpPr>
        <p:spPr>
          <a:xfrm>
            <a:off x="10094976"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Fraud Rate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Visualizing the Transaction Data</a:t>
            </a:r>
            <a:endParaRPr lang="en-US" sz="2800" dirty="0"/>
          </a:p>
        </p:txBody>
      </p:sp>
      <p:sp>
        <p:nvSpPr>
          <p:cNvPr id="4" name="Shape 2"/>
          <p:cNvSpPr/>
          <p:nvPr/>
        </p:nvSpPr>
        <p:spPr>
          <a:xfrm>
            <a:off x="594360"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777240"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Histogram — Amount Distribution</a:t>
            </a:r>
            <a:endParaRPr lang="en-US" sz="1250" dirty="0"/>
          </a:p>
        </p:txBody>
      </p:sp>
      <p:pic>
        <p:nvPicPr>
          <p:cNvPr id="6" name="Image 0" descr="/home/claude/fraud_ppt/hist_amount.png"/>
          <p:cNvPicPr>
            <a:picLocks noChangeAspect="1"/>
          </p:cNvPicPr>
          <p:nvPr/>
        </p:nvPicPr>
        <p:blipFill>
          <a:blip r:embed="rId3"/>
          <a:stretch>
            <a:fillRect/>
          </a:stretch>
        </p:blipFill>
        <p:spPr>
          <a:xfrm>
            <a:off x="731520" y="2240280"/>
            <a:ext cx="3246120" cy="2337206"/>
          </a:xfrm>
          <a:prstGeom prst="rect">
            <a:avLst/>
          </a:prstGeom>
        </p:spPr>
      </p:pic>
      <p:sp>
        <p:nvSpPr>
          <p:cNvPr id="7" name="Text 4"/>
          <p:cNvSpPr txBox="1"/>
          <p:nvPr/>
        </p:nvSpPr>
        <p:spPr>
          <a:xfrm>
            <a:off x="777240"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Legitimate amounts cluster low; fraud skews toward a wider, higher range.</a:t>
            </a:r>
            <a:endParaRPr lang="en-US" sz="1000" dirty="0"/>
          </a:p>
        </p:txBody>
      </p:sp>
      <p:sp>
        <p:nvSpPr>
          <p:cNvPr id="8" name="Shape 5"/>
          <p:cNvSpPr/>
          <p:nvPr/>
        </p:nvSpPr>
        <p:spPr>
          <a:xfrm>
            <a:off x="4315968"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9" name="Text 6"/>
          <p:cNvSpPr txBox="1"/>
          <p:nvPr/>
        </p:nvSpPr>
        <p:spPr>
          <a:xfrm>
            <a:off x="4498848"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Bar Chart — Avg. Amount by Hour Block</a:t>
            </a:r>
            <a:endParaRPr lang="en-US" sz="1250" dirty="0"/>
          </a:p>
        </p:txBody>
      </p:sp>
      <p:graphicFrame>
        <p:nvGraphicFramePr>
          <p:cNvPr id="10" name="Chart 0"/>
          <p:cNvGraphicFramePr/>
          <p:nvPr/>
        </p:nvGraphicFramePr>
        <p:xfrm>
          <a:off x="4453128" y="2240280"/>
          <a:ext cx="32461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4498848"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Average spend is higher during midday and evening transaction blocks.</a:t>
            </a:r>
            <a:endParaRPr lang="en-US" sz="1000" dirty="0"/>
          </a:p>
        </p:txBody>
      </p:sp>
      <p:sp>
        <p:nvSpPr>
          <p:cNvPr id="12" name="Shape 8"/>
          <p:cNvSpPr/>
          <p:nvPr/>
        </p:nvSpPr>
        <p:spPr>
          <a:xfrm>
            <a:off x="8037576"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13" name="Text 9"/>
          <p:cNvSpPr txBox="1"/>
          <p:nvPr/>
        </p:nvSpPr>
        <p:spPr>
          <a:xfrm>
            <a:off x="8220456"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Count Plot — Class Counts</a:t>
            </a:r>
            <a:endParaRPr lang="en-US" sz="1250" dirty="0"/>
          </a:p>
        </p:txBody>
      </p:sp>
      <p:graphicFrame>
        <p:nvGraphicFramePr>
          <p:cNvPr id="14" name="Chart 1"/>
          <p:cNvGraphicFramePr/>
          <p:nvPr/>
        </p:nvGraphicFramePr>
        <p:xfrm>
          <a:off x="8174736" y="2240280"/>
          <a:ext cx="3246120" cy="260604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0"/>
          <p:cNvSpPr txBox="1"/>
          <p:nvPr/>
        </p:nvSpPr>
        <p:spPr>
          <a:xfrm>
            <a:off x="8220456"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Plotted on a linear scale, fraud cases are barely visible next to legitimate volume — reinforcing the imbalance.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Spotting Patterns and Relationships</a:t>
            </a:r>
            <a:endParaRPr lang="en-US" sz="2800" dirty="0"/>
          </a:p>
        </p:txBody>
      </p:sp>
      <p:sp>
        <p:nvSpPr>
          <p:cNvPr id="4" name="Shape 2"/>
          <p:cNvSpPr/>
          <p:nvPr/>
        </p:nvSpPr>
        <p:spPr>
          <a:xfrm>
            <a:off x="594360"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777240"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Box Plot — Amount by Class</a:t>
            </a:r>
            <a:endParaRPr lang="en-US" sz="1250" dirty="0"/>
          </a:p>
        </p:txBody>
      </p:sp>
      <p:pic>
        <p:nvPicPr>
          <p:cNvPr id="6" name="Image 0" descr="/home/claude/fraud_ppt/boxplot_amount.png"/>
          <p:cNvPicPr>
            <a:picLocks noChangeAspect="1"/>
          </p:cNvPicPr>
          <p:nvPr/>
        </p:nvPicPr>
        <p:blipFill>
          <a:blip r:embed="rId3"/>
          <a:stretch>
            <a:fillRect/>
          </a:stretch>
        </p:blipFill>
        <p:spPr>
          <a:xfrm>
            <a:off x="731520" y="2240280"/>
            <a:ext cx="3246120" cy="2337206"/>
          </a:xfrm>
          <a:prstGeom prst="rect">
            <a:avLst/>
          </a:prstGeom>
        </p:spPr>
      </p:pic>
      <p:sp>
        <p:nvSpPr>
          <p:cNvPr id="7" name="Text 4"/>
          <p:cNvSpPr txBox="1"/>
          <p:nvPr/>
        </p:nvSpPr>
        <p:spPr>
          <a:xfrm>
            <a:off x="777240"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Fraudulent transactions show a higher median amount and wider spread.</a:t>
            </a:r>
            <a:endParaRPr lang="en-US" sz="1000" dirty="0"/>
          </a:p>
        </p:txBody>
      </p:sp>
      <p:sp>
        <p:nvSpPr>
          <p:cNvPr id="8" name="Shape 5"/>
          <p:cNvSpPr/>
          <p:nvPr/>
        </p:nvSpPr>
        <p:spPr>
          <a:xfrm>
            <a:off x="4315968"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9" name="Text 6"/>
          <p:cNvSpPr txBox="1"/>
          <p:nvPr/>
        </p:nvSpPr>
        <p:spPr>
          <a:xfrm>
            <a:off x="4498848"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Scatter Plot — V1 vs V2 by Class</a:t>
            </a:r>
            <a:endParaRPr lang="en-US" sz="1250" dirty="0"/>
          </a:p>
        </p:txBody>
      </p:sp>
      <p:pic>
        <p:nvPicPr>
          <p:cNvPr id="10" name="Image 1" descr="/home/claude/fraud_ppt/scatter_v1v2.png"/>
          <p:cNvPicPr>
            <a:picLocks noChangeAspect="1"/>
          </p:cNvPicPr>
          <p:nvPr/>
        </p:nvPicPr>
        <p:blipFill>
          <a:blip r:embed="rId4"/>
          <a:stretch>
            <a:fillRect/>
          </a:stretch>
        </p:blipFill>
        <p:spPr>
          <a:xfrm>
            <a:off x="4453128" y="2240280"/>
            <a:ext cx="3246120" cy="2337206"/>
          </a:xfrm>
          <a:prstGeom prst="rect">
            <a:avLst/>
          </a:prstGeom>
        </p:spPr>
      </p:pic>
      <p:sp>
        <p:nvSpPr>
          <p:cNvPr id="11" name="Text 7"/>
          <p:cNvSpPr txBox="1"/>
          <p:nvPr/>
        </p:nvSpPr>
        <p:spPr>
          <a:xfrm>
            <a:off x="4498848"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Fraudulent points cluster apart from legitimate ones in PCA feature space.</a:t>
            </a:r>
            <a:endParaRPr lang="en-US" sz="1000" dirty="0"/>
          </a:p>
        </p:txBody>
      </p:sp>
      <p:sp>
        <p:nvSpPr>
          <p:cNvPr id="12" name="Shape 8"/>
          <p:cNvSpPr/>
          <p:nvPr/>
        </p:nvSpPr>
        <p:spPr>
          <a:xfrm>
            <a:off x="8037576"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13" name="Text 9"/>
          <p:cNvSpPr txBox="1"/>
          <p:nvPr/>
        </p:nvSpPr>
        <p:spPr>
          <a:xfrm>
            <a:off x="8220456"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Correlation Heatmap</a:t>
            </a:r>
            <a:endParaRPr lang="en-US" sz="1250" dirty="0"/>
          </a:p>
        </p:txBody>
      </p:sp>
      <p:pic>
        <p:nvPicPr>
          <p:cNvPr id="14" name="Image 2" descr="/home/claude/fraud_ppt/heatmap_corr.png"/>
          <p:cNvPicPr>
            <a:picLocks noChangeAspect="1"/>
          </p:cNvPicPr>
          <p:nvPr/>
        </p:nvPicPr>
        <p:blipFill>
          <a:blip r:embed="rId5"/>
          <a:stretch>
            <a:fillRect/>
          </a:stretch>
        </p:blipFill>
        <p:spPr>
          <a:xfrm>
            <a:off x="8174736" y="2221992"/>
            <a:ext cx="3246120" cy="2856586"/>
          </a:xfrm>
          <a:prstGeom prst="rect">
            <a:avLst/>
          </a:prstGeom>
        </p:spPr>
      </p:pic>
      <p:sp>
        <p:nvSpPr>
          <p:cNvPr id="15" name="Text 10"/>
          <p:cNvSpPr txBox="1"/>
          <p:nvPr/>
        </p:nvSpPr>
        <p:spPr>
          <a:xfrm>
            <a:off x="8220456" y="5559552"/>
            <a:ext cx="3154680" cy="45720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V2 and V1 show the strongest linear relationship with Class among sampled features.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Eyebrow 2"/>
          <p:cNvSpPr txBox="1"/>
          <p:nvPr/>
        </p:nvSpPr>
        <p:spPr>
          <a:xfrm>
            <a:off x="640080" y="457200"/>
            <a:ext cx="8229600" cy="365760"/>
          </a:xfrm>
          <a:prstGeom prst="rect">
            <a:avLst/>
          </a:prstGeom>
          <a:noFill/>
          <a:ln/>
        </p:spPr>
        <p:txBody>
          <a:bodyPr wrap="square" lIns="0" tIns="0" rIns="0" bIns="0" rtlCol="0" anchor="ctr"/>
          <a:lstStyle/>
          <a:p>
            <a:pPr marL="0" indent="0" algn="l">
              <a:buNone/>
            </a:pPr>
            <a:r>
              <a:rPr lang="en-US" sz="1300" b="1" spc="300" dirty="0">
                <a:solidFill>
                  <a:srgbClr val="E63946"/>
                </a:solidFill>
                <a:latin typeface="Calibri" pitchFamily="34" charset="0"/>
                <a:ea typeface="Calibri" pitchFamily="34" charset="-122"/>
                <a:cs typeface="Calibri" pitchFamily="34" charset="-120"/>
              </a:rPr>
              <a:t>FEATURE SELECTION / FEATURE ENGINEERING</a:t>
            </a:r>
          </a:p>
        </p:txBody>
      </p:sp>
      <p:sp>
        <p:nvSpPr>
          <p:cNvPr id="3" name="Title 3"/>
          <p:cNvSpPr txBox="1"/>
          <p:nvPr/>
        </p:nvSpPr>
        <p:spPr>
          <a:xfrm>
            <a:off x="594360" y="822960"/>
            <a:ext cx="10881360" cy="685800"/>
          </a:xfrm>
          <a:prstGeom prst="rect">
            <a:avLst/>
          </a:prstGeom>
          <a:noFill/>
          <a:ln/>
        </p:spPr>
        <p:txBody>
          <a:bodyPr wrap="square" lIns="0" tIns="0" rIns="0" bIns="0" rtlCol="0" anchor="ctr"/>
          <a:lstStyle/>
          <a:p>
            <a:pPr marL="0" indent="0" algn="l">
              <a:buNone/>
            </a:pPr>
            <a:r>
              <a:rPr lang="en-US" sz="2800" b="1" dirty="0">
                <a:solidFill>
                  <a:srgbClr val="0B1B33"/>
                </a:solidFill>
                <a:latin typeface="Cambria" pitchFamily="34" charset="0"/>
                <a:ea typeface="Cambria" pitchFamily="34" charset="-122"/>
                <a:cs typeface="Cambria" pitchFamily="34" charset="-120"/>
              </a:rPr>
              <a:t>Choosing and Preparing the Model Inputs</a:t>
            </a:r>
          </a:p>
        </p:txBody>
      </p:sp>
      <p:sp>
        <p:nvSpPr>
          <p:cNvPr id="4" name="Card 4"/>
          <p:cNvSpPr/>
          <p:nvPr/>
        </p:nvSpPr>
        <p:spPr>
          <a:xfrm>
            <a:off x="594360" y="1750000"/>
            <a:ext cx="5349240" cy="1700000"/>
          </a:xfrm>
          <a:prstGeom prst="roundRect">
            <a:avLst>
              <a:gd name="adj" fmla="val 5185"/>
            </a:avLst>
          </a:prstGeom>
          <a:solidFill>
            <a:srgbClr val="FFFFFF"/>
          </a:solidFill>
          <a:ln w="12700">
            <a:solidFill>
              <a:srgbClr val="DDE3ED"/>
            </a:solidFill>
          </a:ln>
        </p:spPr>
      </p:sp>
      <p:sp>
        <p:nvSpPr>
          <p:cNvPr id="5" name="Badge 5"/>
          <p:cNvSpPr/>
          <p:nvPr/>
        </p:nvSpPr>
        <p:spPr>
          <a:xfrm>
            <a:off x="850392" y="1950000"/>
            <a:ext cx="457200" cy="457200"/>
          </a:xfrm>
          <a:prstGeom prst="ellipse">
            <a:avLst/>
          </a:prstGeom>
          <a:solidFill>
            <a:srgbClr val="E63946"/>
          </a:solidFill>
          <a:ln/>
        </p:spPr>
      </p:sp>
      <p:sp>
        <p:nvSpPr>
          <p:cNvPr id="6" name="BadgeNum 6"/>
          <p:cNvSpPr txBox="1"/>
          <p:nvPr/>
        </p:nvSpPr>
        <p:spPr>
          <a:xfrm>
            <a:off x="850392" y="1950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p>
        </p:txBody>
      </p:sp>
      <p:sp>
        <p:nvSpPr>
          <p:cNvPr id="7" name="Heading 7"/>
          <p:cNvSpPr txBox="1"/>
          <p:nvPr/>
        </p:nvSpPr>
        <p:spPr>
          <a:xfrm>
            <a:off x="1508760" y="1950000"/>
            <a:ext cx="4178808" cy="4572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Which features are used?</a:t>
            </a:r>
          </a:p>
        </p:txBody>
      </p:sp>
      <p:sp>
        <p:nvSpPr>
          <p:cNvPr id="8" name="Body 8"/>
          <p:cNvSpPr txBox="1"/>
          <p:nvPr/>
        </p:nvSpPr>
        <p:spPr>
          <a:xfrm>
            <a:off x="1508760" y="2470000"/>
            <a:ext cx="4178808" cy="83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All 30 input features: V1–V28 (anonymized PCA components) plus scaled Time and scaled Amount. Class is kept aside as the target label.</a:t>
            </a:r>
          </a:p>
        </p:txBody>
      </p:sp>
      <p:sp>
        <p:nvSpPr>
          <p:cNvPr id="9" name="Card 9"/>
          <p:cNvSpPr/>
          <p:nvPr/>
        </p:nvSpPr>
        <p:spPr>
          <a:xfrm>
            <a:off x="6248400" y="1750000"/>
            <a:ext cx="5349240" cy="1700000"/>
          </a:xfrm>
          <a:prstGeom prst="roundRect">
            <a:avLst>
              <a:gd name="adj" fmla="val 5185"/>
            </a:avLst>
          </a:prstGeom>
          <a:solidFill>
            <a:srgbClr val="FFFFFF"/>
          </a:solidFill>
          <a:ln w="12700">
            <a:solidFill>
              <a:srgbClr val="DDE3ED"/>
            </a:solidFill>
          </a:ln>
        </p:spPr>
      </p:sp>
      <p:sp>
        <p:nvSpPr>
          <p:cNvPr id="10" name="Badge 10"/>
          <p:cNvSpPr/>
          <p:nvPr/>
        </p:nvSpPr>
        <p:spPr>
          <a:xfrm>
            <a:off x="6504432" y="1950000"/>
            <a:ext cx="457200" cy="457200"/>
          </a:xfrm>
          <a:prstGeom prst="ellipse">
            <a:avLst/>
          </a:prstGeom>
          <a:solidFill>
            <a:srgbClr val="E63946"/>
          </a:solidFill>
          <a:ln/>
        </p:spPr>
      </p:sp>
      <p:sp>
        <p:nvSpPr>
          <p:cNvPr id="11" name="BadgeNum 11"/>
          <p:cNvSpPr txBox="1"/>
          <p:nvPr/>
        </p:nvSpPr>
        <p:spPr>
          <a:xfrm>
            <a:off x="6504432" y="1950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p>
        </p:txBody>
      </p:sp>
      <p:sp>
        <p:nvSpPr>
          <p:cNvPr id="12" name="Heading 12"/>
          <p:cNvSpPr txBox="1"/>
          <p:nvPr/>
        </p:nvSpPr>
        <p:spPr>
          <a:xfrm>
            <a:off x="7162800" y="1950000"/>
            <a:ext cx="4178808" cy="4572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Which features are removed?</a:t>
            </a:r>
          </a:p>
        </p:txBody>
      </p:sp>
      <p:sp>
        <p:nvSpPr>
          <p:cNvPr id="13" name="Body 13"/>
          <p:cNvSpPr txBox="1"/>
          <p:nvPr/>
        </p:nvSpPr>
        <p:spPr>
          <a:xfrm>
            <a:off x="7162800" y="2470000"/>
            <a:ext cx="4178808" cy="83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No V1–V28 component is dropped. The raw Time and Amount columns are replaced by scaled versions, and Class is separated from the inputs as the target (y).</a:t>
            </a:r>
          </a:p>
        </p:txBody>
      </p:sp>
      <p:sp>
        <p:nvSpPr>
          <p:cNvPr id="14" name="Card 14"/>
          <p:cNvSpPr/>
          <p:nvPr/>
        </p:nvSpPr>
        <p:spPr>
          <a:xfrm>
            <a:off x="594360" y="3700000"/>
            <a:ext cx="5349240" cy="1700000"/>
          </a:xfrm>
          <a:prstGeom prst="roundRect">
            <a:avLst>
              <a:gd name="adj" fmla="val 5185"/>
            </a:avLst>
          </a:prstGeom>
          <a:solidFill>
            <a:srgbClr val="FFFFFF"/>
          </a:solidFill>
          <a:ln w="12700">
            <a:solidFill>
              <a:srgbClr val="DDE3ED"/>
            </a:solidFill>
          </a:ln>
        </p:spPr>
      </p:sp>
      <p:sp>
        <p:nvSpPr>
          <p:cNvPr id="15" name="Badge 15"/>
          <p:cNvSpPr/>
          <p:nvPr/>
        </p:nvSpPr>
        <p:spPr>
          <a:xfrm>
            <a:off x="850392" y="3900000"/>
            <a:ext cx="457200" cy="457200"/>
          </a:xfrm>
          <a:prstGeom prst="ellipse">
            <a:avLst/>
          </a:prstGeom>
          <a:solidFill>
            <a:srgbClr val="E63946"/>
          </a:solidFill>
          <a:ln/>
        </p:spPr>
      </p:sp>
      <p:sp>
        <p:nvSpPr>
          <p:cNvPr id="16" name="BadgeNum 16"/>
          <p:cNvSpPr txBox="1"/>
          <p:nvPr/>
        </p:nvSpPr>
        <p:spPr>
          <a:xfrm>
            <a:off x="850392" y="3900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p>
        </p:txBody>
      </p:sp>
      <p:sp>
        <p:nvSpPr>
          <p:cNvPr id="17" name="Heading 17"/>
          <p:cNvSpPr txBox="1"/>
          <p:nvPr/>
        </p:nvSpPr>
        <p:spPr>
          <a:xfrm>
            <a:off x="1508760" y="3900000"/>
            <a:ext cx="4178808" cy="4572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Why are they removed?</a:t>
            </a:r>
          </a:p>
        </p:txBody>
      </p:sp>
      <p:sp>
        <p:nvSpPr>
          <p:cNvPr id="18" name="Body 18"/>
          <p:cNvSpPr txBox="1"/>
          <p:nvPr/>
        </p:nvSpPr>
        <p:spPr>
          <a:xfrm>
            <a:off x="1508760" y="4420000"/>
            <a:ext cx="4178808" cy="83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Raw Time and Amount are on a far larger scale than V1–V28 and would dominate Logistic Regression. Class is the answer itself, so using it as input would leak the label. V1–V28 are already decorrelated by PCA, so none are dropped.</a:t>
            </a:r>
          </a:p>
        </p:txBody>
      </p:sp>
      <p:sp>
        <p:nvSpPr>
          <p:cNvPr id="19" name="Card 19"/>
          <p:cNvSpPr/>
          <p:nvPr/>
        </p:nvSpPr>
        <p:spPr>
          <a:xfrm>
            <a:off x="6248400" y="3700000"/>
            <a:ext cx="5349240" cy="1700000"/>
          </a:xfrm>
          <a:prstGeom prst="roundRect">
            <a:avLst>
              <a:gd name="adj" fmla="val 5185"/>
            </a:avLst>
          </a:prstGeom>
          <a:solidFill>
            <a:srgbClr val="FFFFFF"/>
          </a:solidFill>
          <a:ln w="12700">
            <a:solidFill>
              <a:srgbClr val="DDE3ED"/>
            </a:solidFill>
          </a:ln>
        </p:spPr>
      </p:sp>
      <p:sp>
        <p:nvSpPr>
          <p:cNvPr id="20" name="Badge 20"/>
          <p:cNvSpPr/>
          <p:nvPr/>
        </p:nvSpPr>
        <p:spPr>
          <a:xfrm>
            <a:off x="6504432" y="3900000"/>
            <a:ext cx="457200" cy="457200"/>
          </a:xfrm>
          <a:prstGeom prst="ellipse">
            <a:avLst/>
          </a:prstGeom>
          <a:solidFill>
            <a:srgbClr val="E63946"/>
          </a:solidFill>
          <a:ln/>
        </p:spPr>
      </p:sp>
      <p:sp>
        <p:nvSpPr>
          <p:cNvPr id="21" name="BadgeNum 21"/>
          <p:cNvSpPr txBox="1"/>
          <p:nvPr/>
        </p:nvSpPr>
        <p:spPr>
          <a:xfrm>
            <a:off x="6504432" y="3900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p>
        </p:txBody>
      </p:sp>
      <p:sp>
        <p:nvSpPr>
          <p:cNvPr id="22" name="Heading 22"/>
          <p:cNvSpPr txBox="1"/>
          <p:nvPr/>
        </p:nvSpPr>
        <p:spPr>
          <a:xfrm>
            <a:off x="7162800" y="3900000"/>
            <a:ext cx="4178808" cy="4572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Are new features created?</a:t>
            </a:r>
          </a:p>
        </p:txBody>
      </p:sp>
      <p:sp>
        <p:nvSpPr>
          <p:cNvPr id="23" name="Body 23"/>
          <p:cNvSpPr txBox="1"/>
          <p:nvPr/>
        </p:nvSpPr>
        <p:spPr>
          <a:xfrm>
            <a:off x="7162800" y="4420000"/>
            <a:ext cx="4178808" cy="83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Yes — scaled_time and scaled_amount, created with StandardScaler (mean 0, unit variance). They replace the raw columns so all 30 inputs share a comparable scale.</a:t>
            </a:r>
          </a:p>
        </p:txBody>
      </p:sp>
      <p:sp>
        <p:nvSpPr>
          <p:cNvPr id="24" name="Strip 24"/>
          <p:cNvSpPr/>
          <p:nvPr/>
        </p:nvSpPr>
        <p:spPr>
          <a:xfrm>
            <a:off x="594360" y="5650000"/>
            <a:ext cx="11003280" cy="560000"/>
          </a:xfrm>
          <a:prstGeom prst="roundRect">
            <a:avLst>
              <a:gd name="adj" fmla="val 10000"/>
            </a:avLst>
          </a:prstGeom>
          <a:solidFill>
            <a:srgbClr val="0B1B33"/>
          </a:solidFill>
          <a:ln/>
        </p:spPr>
      </p:sp>
      <p:sp>
        <p:nvSpPr>
          <p:cNvPr id="25" name="StripText 25"/>
          <p:cNvSpPr txBox="1"/>
          <p:nvPr/>
        </p:nvSpPr>
        <p:spPr>
          <a:xfrm>
            <a:off x="894360" y="5650000"/>
            <a:ext cx="10403280" cy="56000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Final model input:  </a:t>
            </a:r>
            <a:r>
              <a:rPr lang="en-US" sz="1300" dirty="0">
                <a:solidFill>
                  <a:srgbClr val="CADCFC"/>
                </a:solidFill>
                <a:latin typeface="Calibri" pitchFamily="34" charset="0"/>
                <a:ea typeface="Calibri" pitchFamily="34" charset="-122"/>
                <a:cs typeface="Calibri" pitchFamily="34" charset="-120"/>
              </a:rPr>
              <a:t>30 features (V1–V28 + scaled_time + scaled_amount)   |   Target: Class (0 = legitimate, 1 = fraud)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Eyebrow 2"/>
          <p:cNvSpPr txBox="1"/>
          <p:nvPr/>
        </p:nvSpPr>
        <p:spPr>
          <a:xfrm>
            <a:off x="640080" y="457200"/>
            <a:ext cx="8229600" cy="365760"/>
          </a:xfrm>
          <a:prstGeom prst="rect">
            <a:avLst/>
          </a:prstGeom>
          <a:noFill/>
          <a:ln/>
        </p:spPr>
        <p:txBody>
          <a:bodyPr wrap="square" lIns="0" tIns="0" rIns="0" bIns="0" rtlCol="0" anchor="ctr"/>
          <a:lstStyle/>
          <a:p>
            <a:pPr marL="0" indent="0" algn="l">
              <a:buNone/>
            </a:pPr>
            <a:r>
              <a:rPr lang="en-US" sz="1300" b="1" spc="300" dirty="0">
                <a:solidFill>
                  <a:srgbClr val="E63946"/>
                </a:solidFill>
                <a:latin typeface="Calibri" pitchFamily="34" charset="0"/>
                <a:ea typeface="Calibri" pitchFamily="34" charset="-122"/>
                <a:cs typeface="Calibri" pitchFamily="34" charset="-120"/>
              </a:rPr>
              <a:t>TRAIN-TEST SPLIT</a:t>
            </a:r>
          </a:p>
        </p:txBody>
      </p:sp>
      <p:sp>
        <p:nvSpPr>
          <p:cNvPr id="3" name="Title 3"/>
          <p:cNvSpPr txBox="1"/>
          <p:nvPr/>
        </p:nvSpPr>
        <p:spPr>
          <a:xfrm>
            <a:off x="594360" y="822960"/>
            <a:ext cx="10881360" cy="685800"/>
          </a:xfrm>
          <a:prstGeom prst="rect">
            <a:avLst/>
          </a:prstGeom>
          <a:noFill/>
          <a:ln/>
        </p:spPr>
        <p:txBody>
          <a:bodyPr wrap="square" lIns="0" tIns="0" rIns="0" bIns="0" rtlCol="0" anchor="ctr"/>
          <a:lstStyle/>
          <a:p>
            <a:pPr marL="0" indent="0" algn="l">
              <a:buNone/>
            </a:pPr>
            <a:r>
              <a:rPr lang="en-US" sz="2800" b="1" dirty="0">
                <a:solidFill>
                  <a:srgbClr val="0B1B33"/>
                </a:solidFill>
                <a:latin typeface="Cambria" pitchFamily="34" charset="0"/>
                <a:ea typeface="Cambria" pitchFamily="34" charset="-122"/>
                <a:cs typeface="Cambria" pitchFamily="34" charset="-120"/>
              </a:rPr>
              <a:t>Dividing the Data into Training and Testing Sets</a:t>
            </a:r>
          </a:p>
        </p:txBody>
      </p:sp>
      <p:sp>
        <p:nvSpPr>
          <p:cNvPr id="4" name="TrainBar 4"/>
          <p:cNvSpPr/>
          <p:nvPr/>
        </p:nvSpPr>
        <p:spPr>
          <a:xfrm>
            <a:off x="594360" y="1800000"/>
            <a:ext cx="8782624" cy="900000"/>
          </a:xfrm>
          <a:prstGeom prst="roundRect">
            <a:avLst>
              <a:gd name="adj" fmla="val 12000"/>
            </a:avLst>
          </a:prstGeom>
          <a:solidFill>
            <a:srgbClr val="0B1B33"/>
          </a:solidFill>
          <a:ln/>
        </p:spPr>
      </p:sp>
      <p:sp>
        <p:nvSpPr>
          <p:cNvPr id="5" name="TestBar 5"/>
          <p:cNvSpPr/>
          <p:nvPr/>
        </p:nvSpPr>
        <p:spPr>
          <a:xfrm>
            <a:off x="9416984" y="1800000"/>
            <a:ext cx="2180656" cy="900000"/>
          </a:xfrm>
          <a:prstGeom prst="roundRect">
            <a:avLst>
              <a:gd name="adj" fmla="val 12000"/>
            </a:avLst>
          </a:prstGeom>
          <a:solidFill>
            <a:srgbClr val="E63946"/>
          </a:solidFill>
          <a:ln/>
        </p:spPr>
      </p:sp>
      <p:sp>
        <p:nvSpPr>
          <p:cNvPr id="6" name="TrainLabel 6"/>
          <p:cNvSpPr txBox="1"/>
          <p:nvPr/>
        </p:nvSpPr>
        <p:spPr>
          <a:xfrm>
            <a:off x="594360" y="1800000"/>
            <a:ext cx="8782624" cy="9000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80%  </a:t>
            </a:r>
            <a:r>
              <a:rPr lang="en-US" sz="1600" b="1" dirty="0">
                <a:solidFill>
                  <a:srgbClr val="CADCFC"/>
                </a:solidFill>
                <a:latin typeface="Calibri" pitchFamily="34" charset="0"/>
                <a:ea typeface="Calibri" pitchFamily="34" charset="-122"/>
                <a:cs typeface="Calibri" pitchFamily="34" charset="-120"/>
              </a:rPr>
              <a:t>Training data</a:t>
            </a:r>
          </a:p>
        </p:txBody>
      </p:sp>
      <p:sp>
        <p:nvSpPr>
          <p:cNvPr id="7" name="TestLabel 7"/>
          <p:cNvSpPr txBox="1"/>
          <p:nvPr/>
        </p:nvSpPr>
        <p:spPr>
          <a:xfrm>
            <a:off x="9416984" y="1800000"/>
            <a:ext cx="2180656" cy="9000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20%  </a:t>
            </a:r>
            <a:r>
              <a:rPr lang="en-US" sz="1400" b="1" dirty="0">
                <a:solidFill>
                  <a:srgbClr val="FFFFFF"/>
                </a:solidFill>
                <a:latin typeface="Calibri" pitchFamily="34" charset="0"/>
                <a:ea typeface="Calibri" pitchFamily="34" charset="-122"/>
                <a:cs typeface="Calibri" pitchFamily="34" charset="-120"/>
              </a:rPr>
              <a:t>Testing</a:t>
            </a:r>
          </a:p>
        </p:txBody>
      </p:sp>
      <p:sp>
        <p:nvSpPr>
          <p:cNvPr id="8" name="Card 8"/>
          <p:cNvSpPr/>
          <p:nvPr/>
        </p:nvSpPr>
        <p:spPr>
          <a:xfrm>
            <a:off x="594360" y="3100000"/>
            <a:ext cx="3464560" cy="2000000"/>
          </a:xfrm>
          <a:prstGeom prst="roundRect">
            <a:avLst>
              <a:gd name="adj" fmla="val 5185"/>
            </a:avLst>
          </a:prstGeom>
          <a:solidFill>
            <a:srgbClr val="FFFFFF"/>
          </a:solidFill>
          <a:ln w="12700">
            <a:solidFill>
              <a:srgbClr val="DDE3ED"/>
            </a:solidFill>
          </a:ln>
        </p:spPr>
      </p:sp>
      <p:sp>
        <p:nvSpPr>
          <p:cNvPr id="9" name="Heading 9"/>
          <p:cNvSpPr txBox="1"/>
          <p:nvPr/>
        </p:nvSpPr>
        <p:spPr>
          <a:xfrm>
            <a:off x="850392" y="3300000"/>
            <a:ext cx="2952496" cy="35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Training data — 80%</a:t>
            </a:r>
          </a:p>
        </p:txBody>
      </p:sp>
      <p:sp>
        <p:nvSpPr>
          <p:cNvPr id="10" name="Body 10"/>
          <p:cNvSpPr txBox="1"/>
          <p:nvPr/>
        </p:nvSpPr>
        <p:spPr>
          <a:xfrm>
            <a:off x="850392" y="374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Used to train the model. Logistic Regression learns fraud patterns from these labeled transactions.</a:t>
            </a:r>
          </a:p>
        </p:txBody>
      </p:sp>
      <p:sp>
        <p:nvSpPr>
          <p:cNvPr id="11" name="Foot 11"/>
          <p:cNvSpPr txBox="1"/>
          <p:nvPr/>
        </p:nvSpPr>
        <p:spPr>
          <a:xfrm>
            <a:off x="850392" y="4620000"/>
            <a:ext cx="2952496" cy="300000"/>
          </a:xfrm>
          <a:prstGeom prst="rect">
            <a:avLst/>
          </a:prstGeom>
          <a:noFill/>
          <a:ln/>
        </p:spPr>
        <p:txBody>
          <a:bodyPr wrap="square" lIns="0" tIns="0" rIns="0" bIns="0" rtlCol="0" anchor="ctr"/>
          <a:lstStyle/>
          <a:p>
            <a:pPr marL="0" indent="0" algn="l">
              <a:buNone/>
            </a:pPr>
            <a:r>
              <a:rPr lang="en-US" sz="1300" b="1" dirty="0">
                <a:solidFill>
                  <a:srgbClr val="E63946"/>
                </a:solidFill>
                <a:latin typeface="Calibri" pitchFamily="34" charset="0"/>
                <a:ea typeface="Calibri" pitchFamily="34" charset="-122"/>
                <a:cs typeface="Calibri" pitchFamily="34" charset="-120"/>
              </a:rPr>
              <a:t>≈ 226,980 transactions</a:t>
            </a:r>
          </a:p>
        </p:txBody>
      </p:sp>
      <p:sp>
        <p:nvSpPr>
          <p:cNvPr id="12" name="Card 12"/>
          <p:cNvSpPr/>
          <p:nvPr/>
        </p:nvSpPr>
        <p:spPr>
          <a:xfrm>
            <a:off x="4363720" y="3100000"/>
            <a:ext cx="3464560" cy="2000000"/>
          </a:xfrm>
          <a:prstGeom prst="roundRect">
            <a:avLst>
              <a:gd name="adj" fmla="val 5185"/>
            </a:avLst>
          </a:prstGeom>
          <a:solidFill>
            <a:srgbClr val="FFFFFF"/>
          </a:solidFill>
          <a:ln w="12700">
            <a:solidFill>
              <a:srgbClr val="DDE3ED"/>
            </a:solidFill>
          </a:ln>
        </p:spPr>
      </p:sp>
      <p:sp>
        <p:nvSpPr>
          <p:cNvPr id="13" name="Heading 13"/>
          <p:cNvSpPr txBox="1"/>
          <p:nvPr/>
        </p:nvSpPr>
        <p:spPr>
          <a:xfrm>
            <a:off x="4619752" y="3300000"/>
            <a:ext cx="2952496" cy="35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Testing data — 20%</a:t>
            </a:r>
          </a:p>
        </p:txBody>
      </p:sp>
      <p:sp>
        <p:nvSpPr>
          <p:cNvPr id="14" name="Body 14"/>
          <p:cNvSpPr txBox="1"/>
          <p:nvPr/>
        </p:nvSpPr>
        <p:spPr>
          <a:xfrm>
            <a:off x="4619752" y="374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Held out and never seen during training. Used only to evaluate how well the model generalizes.</a:t>
            </a:r>
          </a:p>
        </p:txBody>
      </p:sp>
      <p:sp>
        <p:nvSpPr>
          <p:cNvPr id="15" name="Foot 15"/>
          <p:cNvSpPr txBox="1"/>
          <p:nvPr/>
        </p:nvSpPr>
        <p:spPr>
          <a:xfrm>
            <a:off x="4619752" y="4620000"/>
            <a:ext cx="2952496" cy="300000"/>
          </a:xfrm>
          <a:prstGeom prst="rect">
            <a:avLst/>
          </a:prstGeom>
          <a:noFill/>
          <a:ln/>
        </p:spPr>
        <p:txBody>
          <a:bodyPr wrap="square" lIns="0" tIns="0" rIns="0" bIns="0" rtlCol="0" anchor="ctr"/>
          <a:lstStyle/>
          <a:p>
            <a:pPr marL="0" indent="0" algn="l">
              <a:buNone/>
            </a:pPr>
            <a:r>
              <a:rPr lang="en-US" sz="1300" b="1" dirty="0">
                <a:solidFill>
                  <a:srgbClr val="E63946"/>
                </a:solidFill>
                <a:latin typeface="Calibri" pitchFamily="34" charset="0"/>
                <a:ea typeface="Calibri" pitchFamily="34" charset="-122"/>
                <a:cs typeface="Calibri" pitchFamily="34" charset="-120"/>
              </a:rPr>
              <a:t>≈ 56,746 transactions</a:t>
            </a:r>
          </a:p>
        </p:txBody>
      </p:sp>
      <p:sp>
        <p:nvSpPr>
          <p:cNvPr id="16" name="Card 16"/>
          <p:cNvSpPr/>
          <p:nvPr/>
        </p:nvSpPr>
        <p:spPr>
          <a:xfrm>
            <a:off x="8133080" y="3100000"/>
            <a:ext cx="3464560" cy="2000000"/>
          </a:xfrm>
          <a:prstGeom prst="roundRect">
            <a:avLst>
              <a:gd name="adj" fmla="val 5185"/>
            </a:avLst>
          </a:prstGeom>
          <a:solidFill>
            <a:srgbClr val="FFFFFF"/>
          </a:solidFill>
          <a:ln w="12700">
            <a:solidFill>
              <a:srgbClr val="DDE3ED"/>
            </a:solidFill>
          </a:ln>
        </p:spPr>
      </p:sp>
      <p:sp>
        <p:nvSpPr>
          <p:cNvPr id="17" name="Heading 17"/>
          <p:cNvSpPr txBox="1"/>
          <p:nvPr/>
        </p:nvSpPr>
        <p:spPr>
          <a:xfrm>
            <a:off x="8389112" y="3300000"/>
            <a:ext cx="2952496" cy="35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Stratified split</a:t>
            </a:r>
          </a:p>
        </p:txBody>
      </p:sp>
      <p:sp>
        <p:nvSpPr>
          <p:cNvPr id="18" name="Body 18"/>
          <p:cNvSpPr txBox="1"/>
          <p:nvPr/>
        </p:nvSpPr>
        <p:spPr>
          <a:xfrm>
            <a:off x="8389112" y="374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Stratifying on Class keeps the ~0.17% fraud rate the same in both sets. A fixed random state makes results reproducible.</a:t>
            </a:r>
          </a:p>
        </p:txBody>
      </p:sp>
      <p:sp>
        <p:nvSpPr>
          <p:cNvPr id="19" name="Foot 19"/>
          <p:cNvSpPr txBox="1"/>
          <p:nvPr/>
        </p:nvSpPr>
        <p:spPr>
          <a:xfrm>
            <a:off x="8389112" y="4620000"/>
            <a:ext cx="2952496" cy="300000"/>
          </a:xfrm>
          <a:prstGeom prst="rect">
            <a:avLst/>
          </a:prstGeom>
          <a:noFill/>
          <a:ln/>
        </p:spPr>
        <p:txBody>
          <a:bodyPr wrap="square" lIns="0" tIns="0" rIns="0" bIns="0" rtlCol="0" anchor="ctr"/>
          <a:lstStyle/>
          <a:p>
            <a:pPr marL="0" indent="0" algn="l">
              <a:buNone/>
            </a:pPr>
            <a:r>
              <a:rPr lang="en-US" sz="1300" b="1" dirty="0">
                <a:solidFill>
                  <a:srgbClr val="E63946"/>
                </a:solidFill>
                <a:latin typeface="Calibri" pitchFamily="34" charset="0"/>
                <a:ea typeface="Calibri" pitchFamily="34" charset="-122"/>
                <a:cs typeface="Calibri" pitchFamily="34" charset="-120"/>
              </a:rPr>
              <a:t>Class weighting: training set only</a:t>
            </a:r>
          </a:p>
        </p:txBody>
      </p:sp>
      <p:sp>
        <p:nvSpPr>
          <p:cNvPr id="20" name="CodeBox 20"/>
          <p:cNvSpPr/>
          <p:nvPr/>
        </p:nvSpPr>
        <p:spPr>
          <a:xfrm>
            <a:off x="594360" y="5400000"/>
            <a:ext cx="11003280" cy="620000"/>
          </a:xfrm>
          <a:prstGeom prst="roundRect">
            <a:avLst>
              <a:gd name="adj" fmla="val 10000"/>
            </a:avLst>
          </a:prstGeom>
          <a:solidFill>
            <a:srgbClr val="0B1B33"/>
          </a:solidFill>
          <a:ln/>
        </p:spPr>
      </p:sp>
      <p:sp>
        <p:nvSpPr>
          <p:cNvPr id="21" name="Code 21"/>
          <p:cNvSpPr txBox="1"/>
          <p:nvPr/>
        </p:nvSpPr>
        <p:spPr>
          <a:xfrm>
            <a:off x="894360" y="5400000"/>
            <a:ext cx="10403280" cy="620000"/>
          </a:xfrm>
          <a:prstGeom prst="rect">
            <a:avLst/>
          </a:prstGeom>
          <a:noFill/>
          <a:ln/>
        </p:spPr>
        <p:txBody>
          <a:bodyPr wrap="square" lIns="0" tIns="0" rIns="0" bIns="0" rtlCol="0" anchor="ctr"/>
          <a:lstStyle/>
          <a:p>
            <a:pPr marL="0" indent="0" algn="l">
              <a:buNone/>
            </a:pPr>
            <a:r>
              <a:rPr lang="en-US" sz="1200" dirty="0">
                <a:solidFill>
                  <a:srgbClr val="CADCFC"/>
                </a:solidFill>
                <a:latin typeface="Courier New" pitchFamily="34" charset="0"/>
                <a:ea typeface="Courier New" pitchFamily="34" charset="-122"/>
                <a:cs typeface="Courier New" pitchFamily="34" charset="-120"/>
              </a:rPr>
              <a:t>X_train, X_test, y_train, y_test = train_test_split(X, y, test_size=0.2, stratify=y, random_state=42)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a:effectLst/>
      </p:bgPr>
    </p:bg>
    <p:spTree>
      <p:nvGrpSpPr>
        <p:cNvPr id="1" name=""/>
        <p:cNvGrpSpPr/>
        <p:nvPr/>
      </p:nvGrpSpPr>
      <p:grpSpPr>
        <a:xfrm>
          <a:off x="0" y="0"/>
          <a:ext cx="0" cy="0"/>
          <a:chOff x="0" y="0"/>
          <a:chExt cx="0" cy="0"/>
        </a:xfrm>
      </p:grpSpPr>
      <p:sp>
        <p:nvSpPr>
          <p:cNvPr id="2" name="Eyebrow 2"/>
          <p:cNvSpPr txBox="1"/>
          <p:nvPr/>
        </p:nvSpPr>
        <p:spPr>
          <a:xfrm>
            <a:off x="640080" y="457200"/>
            <a:ext cx="8229600" cy="365760"/>
          </a:xfrm>
          <a:prstGeom prst="rect">
            <a:avLst/>
          </a:prstGeom>
          <a:noFill/>
          <a:ln/>
        </p:spPr>
        <p:txBody>
          <a:bodyPr wrap="square" lIns="0" tIns="0" rIns="0" bIns="0" rtlCol="0" anchor="ctr"/>
          <a:lstStyle/>
          <a:p>
            <a:pPr marL="0" indent="0" algn="l">
              <a:buNone/>
            </a:pPr>
            <a:r>
              <a:rPr lang="en-US" sz="1300" b="1" spc="300" dirty="0">
                <a:solidFill>
                  <a:srgbClr val="E63946"/>
                </a:solidFill>
                <a:latin typeface="Calibri" pitchFamily="34" charset="0"/>
                <a:ea typeface="Calibri" pitchFamily="34" charset="-122"/>
                <a:cs typeface="Calibri" pitchFamily="34" charset="-120"/>
              </a:rPr>
              <a:t>MODEL BUILDING</a:t>
            </a:r>
          </a:p>
        </p:txBody>
      </p:sp>
      <p:sp>
        <p:nvSpPr>
          <p:cNvPr id="3" name="Title 3"/>
          <p:cNvSpPr txBox="1"/>
          <p:nvPr/>
        </p:nvSpPr>
        <p:spPr>
          <a:xfrm>
            <a:off x="594360" y="822960"/>
            <a:ext cx="10881360" cy="685800"/>
          </a:xfrm>
          <a:prstGeom prst="rect">
            <a:avLst/>
          </a:prstGeom>
          <a:noFill/>
          <a:ln/>
        </p:spPr>
        <p:txBody>
          <a:bodyPr wrap="square" lIns="0" tIns="0" rIns="0" bIns="0" rtlCol="0" anchor="ctr"/>
          <a:lstStyle/>
          <a:p>
            <a:pPr marL="0" indent="0" algn="l">
              <a:buNone/>
            </a:pPr>
            <a:r>
              <a:rPr lang="en-US" sz="2800" b="1" dirty="0">
                <a:solidFill>
                  <a:srgbClr val="0B1B33"/>
                </a:solidFill>
                <a:latin typeface="Cambria" pitchFamily="34" charset="0"/>
                <a:ea typeface="Cambria" pitchFamily="34" charset="-122"/>
                <a:cs typeface="Cambria" pitchFamily="34" charset="-120"/>
              </a:rPr>
              <a:t>Machine Learning Models Used</a:t>
            </a:r>
          </a:p>
        </p:txBody>
      </p:sp>
      <p:sp>
        <p:nvSpPr>
          <p:cNvPr id="4" name="Card 4"/>
          <p:cNvSpPr/>
          <p:nvPr/>
        </p:nvSpPr>
        <p:spPr>
          <a:xfrm>
            <a:off x="594360" y="1750000"/>
            <a:ext cx="3464560" cy="3650000"/>
          </a:xfrm>
          <a:prstGeom prst="roundRect">
            <a:avLst>
              <a:gd name="adj" fmla="val 5185"/>
            </a:avLst>
          </a:prstGeom>
          <a:solidFill>
            <a:srgbClr val="FFFFFF"/>
          </a:solidFill>
          <a:ln w="12700">
            <a:solidFill>
              <a:srgbClr val="DDE3ED"/>
            </a:solidFill>
          </a:ln>
        </p:spPr>
      </p:sp>
      <p:sp>
        <p:nvSpPr>
          <p:cNvPr id="5" name="Tag 5"/>
          <p:cNvSpPr txBox="1"/>
          <p:nvPr/>
        </p:nvSpPr>
        <p:spPr>
          <a:xfrm>
            <a:off x="850392" y="1950000"/>
            <a:ext cx="2952496" cy="250000"/>
          </a:xfrm>
          <a:prstGeom prst="rect">
            <a:avLst/>
          </a:prstGeom>
          <a:noFill/>
          <a:ln/>
        </p:spPr>
        <p:txBody>
          <a:bodyPr wrap="square" lIns="0" tIns="0" rIns="0" bIns="0" rtlCol="0" anchor="ctr"/>
          <a:lstStyle/>
          <a:p>
            <a:pPr marL="0" indent="0" algn="l">
              <a:buNone/>
            </a:pPr>
            <a:r>
              <a:rPr lang="en-US" sz="1100" b="1" spc="200" dirty="0">
                <a:solidFill>
                  <a:srgbClr val="E63946"/>
                </a:solidFill>
                <a:latin typeface="Calibri" pitchFamily="34" charset="0"/>
                <a:ea typeface="Calibri" pitchFamily="34" charset="-122"/>
                <a:cs typeface="Calibri" pitchFamily="34" charset="-120"/>
              </a:rPr>
              <a:t>SUPERVISED</a:t>
            </a:r>
          </a:p>
        </p:txBody>
      </p:sp>
      <p:sp>
        <p:nvSpPr>
          <p:cNvPr id="6" name="Heading 6"/>
          <p:cNvSpPr txBox="1"/>
          <p:nvPr/>
        </p:nvSpPr>
        <p:spPr>
          <a:xfrm>
            <a:off x="850392" y="2250000"/>
            <a:ext cx="2952496" cy="450000"/>
          </a:xfrm>
          <a:prstGeom prst="rect">
            <a:avLst/>
          </a:prstGeom>
          <a:noFill/>
          <a:ln/>
        </p:spPr>
        <p:txBody>
          <a:bodyPr wrap="square" lIns="0" tIns="0" rIns="0" bIns="0" rtlCol="0" anchor="ctr"/>
          <a:lstStyle/>
          <a:p>
            <a:pPr marL="0" indent="0" algn="l">
              <a:buNone/>
            </a:pPr>
            <a:r>
              <a:rPr lang="en-US" sz="2000" b="1" dirty="0">
                <a:solidFill>
                  <a:srgbClr val="0B1B33"/>
                </a:solidFill>
                <a:latin typeface="Cambria" pitchFamily="34" charset="0"/>
                <a:ea typeface="Cambria" pitchFamily="34" charset="-122"/>
                <a:cs typeface="Cambria" pitchFamily="34" charset="-120"/>
              </a:rPr>
              <a:t>Logistic Regression</a:t>
            </a:r>
          </a:p>
        </p:txBody>
      </p:sp>
      <p:sp>
        <p:nvSpPr>
          <p:cNvPr id="7" name="Desc 7"/>
          <p:cNvSpPr txBox="1"/>
          <p:nvPr/>
        </p:nvSpPr>
        <p:spPr>
          <a:xfrm>
            <a:off x="850392" y="280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Learns from labeled transactions to estimate the probability that a transaction is fraudulent.</a:t>
            </a:r>
          </a:p>
        </p:txBody>
      </p:sp>
      <p:sp>
        <p:nvSpPr>
          <p:cNvPr id="8" name="Bullets 8"/>
          <p:cNvSpPr txBox="1"/>
          <p:nvPr/>
        </p:nvSpPr>
        <p:spPr>
          <a:xfrm>
            <a:off x="850392" y="3800000"/>
            <a:ext cx="2952496" cy="1450000"/>
          </a:xfrm>
          <a:prstGeom prst="rect">
            <a:avLst/>
          </a:prstGeom>
          <a:noFill/>
          <a:ln/>
        </p:spPr>
        <p:txBody>
          <a:bodyPr wrap="square" lIns="0" tIns="0" rIns="0" bIns="0" rtlCol="0" anchor="t"/>
          <a:lstStyle/>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class_weight = 'balanced' to offset the 0.17% fraud rate</a:t>
            </a:r>
          </a:p>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max_iter = 1000, lbfgs solver</a:t>
            </a:r>
          </a:p>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Output: class label + fraud probability</a:t>
            </a:r>
          </a:p>
        </p:txBody>
      </p:sp>
      <p:sp>
        <p:nvSpPr>
          <p:cNvPr id="9" name="Card 9"/>
          <p:cNvSpPr/>
          <p:nvPr/>
        </p:nvSpPr>
        <p:spPr>
          <a:xfrm>
            <a:off x="4363720" y="1750000"/>
            <a:ext cx="3464560" cy="3650000"/>
          </a:xfrm>
          <a:prstGeom prst="roundRect">
            <a:avLst>
              <a:gd name="adj" fmla="val 5185"/>
            </a:avLst>
          </a:prstGeom>
          <a:solidFill>
            <a:srgbClr val="FFFFFF"/>
          </a:solidFill>
          <a:ln w="12700">
            <a:solidFill>
              <a:srgbClr val="DDE3ED"/>
            </a:solidFill>
          </a:ln>
        </p:spPr>
      </p:sp>
      <p:sp>
        <p:nvSpPr>
          <p:cNvPr id="10" name="Tag 10"/>
          <p:cNvSpPr txBox="1"/>
          <p:nvPr/>
        </p:nvSpPr>
        <p:spPr>
          <a:xfrm>
            <a:off x="4619752" y="1950000"/>
            <a:ext cx="2952496" cy="250000"/>
          </a:xfrm>
          <a:prstGeom prst="rect">
            <a:avLst/>
          </a:prstGeom>
          <a:noFill/>
          <a:ln/>
        </p:spPr>
        <p:txBody>
          <a:bodyPr wrap="square" lIns="0" tIns="0" rIns="0" bIns="0" rtlCol="0" anchor="ctr"/>
          <a:lstStyle/>
          <a:p>
            <a:pPr marL="0" indent="0" algn="l">
              <a:buNone/>
            </a:pPr>
            <a:r>
              <a:rPr lang="en-US" sz="1100" b="1" spc="200" dirty="0">
                <a:solidFill>
                  <a:srgbClr val="E63946"/>
                </a:solidFill>
                <a:latin typeface="Calibri" pitchFamily="34" charset="0"/>
                <a:ea typeface="Calibri" pitchFamily="34" charset="-122"/>
                <a:cs typeface="Calibri" pitchFamily="34" charset="-120"/>
              </a:rPr>
              <a:t>UNSUPERVISED</a:t>
            </a:r>
          </a:p>
        </p:txBody>
      </p:sp>
      <p:sp>
        <p:nvSpPr>
          <p:cNvPr id="11" name="Heading 11"/>
          <p:cNvSpPr txBox="1"/>
          <p:nvPr/>
        </p:nvSpPr>
        <p:spPr>
          <a:xfrm>
            <a:off x="4619752" y="2250000"/>
            <a:ext cx="2952496" cy="450000"/>
          </a:xfrm>
          <a:prstGeom prst="rect">
            <a:avLst/>
          </a:prstGeom>
          <a:noFill/>
          <a:ln/>
        </p:spPr>
        <p:txBody>
          <a:bodyPr wrap="square" lIns="0" tIns="0" rIns="0" bIns="0" rtlCol="0" anchor="ctr"/>
          <a:lstStyle/>
          <a:p>
            <a:pPr marL="0" indent="0" algn="l">
              <a:buNone/>
            </a:pPr>
            <a:r>
              <a:rPr lang="en-US" sz="2000" b="1" dirty="0">
                <a:solidFill>
                  <a:srgbClr val="0B1B33"/>
                </a:solidFill>
                <a:latin typeface="Cambria" pitchFamily="34" charset="0"/>
                <a:ea typeface="Cambria" pitchFamily="34" charset="-122"/>
                <a:cs typeface="Cambria" pitchFamily="34" charset="-120"/>
              </a:rPr>
              <a:t>Isolation Forest</a:t>
            </a:r>
          </a:p>
        </p:txBody>
      </p:sp>
      <p:sp>
        <p:nvSpPr>
          <p:cNvPr id="12" name="Desc 12"/>
          <p:cNvSpPr txBox="1"/>
          <p:nvPr/>
        </p:nvSpPr>
        <p:spPr>
          <a:xfrm>
            <a:off x="4619752" y="280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6B7688"/>
                </a:solidFill>
                <a:latin typeface="Calibri" pitchFamily="34" charset="0"/>
                <a:ea typeface="Calibri" pitchFamily="34" charset="-122"/>
                <a:cs typeface="Calibri" pitchFamily="34" charset="-120"/>
              </a:rPr>
              <a:t>Isolates transactions that behave very differently from normal ones, without needing labels.</a:t>
            </a:r>
          </a:p>
        </p:txBody>
      </p:sp>
      <p:sp>
        <p:nvSpPr>
          <p:cNvPr id="13" name="Bullets 13"/>
          <p:cNvSpPr txBox="1"/>
          <p:nvPr/>
        </p:nvSpPr>
        <p:spPr>
          <a:xfrm>
            <a:off x="4619752" y="3800000"/>
            <a:ext cx="2952496" cy="1450000"/>
          </a:xfrm>
          <a:prstGeom prst="rect">
            <a:avLst/>
          </a:prstGeom>
          <a:noFill/>
          <a:ln/>
        </p:spPr>
        <p:txBody>
          <a:bodyPr wrap="square" lIns="0" tIns="0" rIns="0" bIns="0" rtlCol="0" anchor="t"/>
          <a:lstStyle/>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n_estimators = 100, random_state = 42</a:t>
            </a:r>
          </a:p>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contamination ≈ 0.0017 (fraud rate)</a:t>
            </a:r>
          </a:p>
          <a:p>
            <a:pPr marL="171450" indent="-171450" algn="l">
              <a:lnSpc>
                <a:spcPct val="110000"/>
              </a:lnSpc>
              <a:spcAft>
                <a:spcPts val="500"/>
              </a:spcAft>
              <a:buClr>
                <a:srgbClr val="E63946"/>
              </a:buClr>
              <a:buFont typeface="Arial"/>
              <a:buChar char="•"/>
            </a:pPr>
            <a:r>
              <a:rPr lang="en-US" sz="1200" dirty="0">
                <a:solidFill>
                  <a:srgbClr val="0B1B33"/>
                </a:solidFill>
                <a:latin typeface="Calibri" pitchFamily="34" charset="0"/>
                <a:ea typeface="Calibri" pitchFamily="34" charset="-122"/>
                <a:cs typeface="Calibri" pitchFamily="34" charset="-120"/>
              </a:rPr>
              <a:t>Output: anomaly score + outlier flag</a:t>
            </a:r>
          </a:p>
        </p:txBody>
      </p:sp>
      <p:sp>
        <p:nvSpPr>
          <p:cNvPr id="14" name="Card 14"/>
          <p:cNvSpPr/>
          <p:nvPr/>
        </p:nvSpPr>
        <p:spPr>
          <a:xfrm>
            <a:off x="8133080" y="1750000"/>
            <a:ext cx="3464560" cy="3650000"/>
          </a:xfrm>
          <a:prstGeom prst="roundRect">
            <a:avLst>
              <a:gd name="adj" fmla="val 5185"/>
            </a:avLst>
          </a:prstGeom>
          <a:solidFill>
            <a:srgbClr val="0B1B33"/>
          </a:solidFill>
          <a:ln w="12700">
            <a:solidFill>
              <a:srgbClr val="0B1B33"/>
            </a:solidFill>
          </a:ln>
        </p:spPr>
      </p:sp>
      <p:sp>
        <p:nvSpPr>
          <p:cNvPr id="15" name="Tag 15"/>
          <p:cNvSpPr txBox="1"/>
          <p:nvPr/>
        </p:nvSpPr>
        <p:spPr>
          <a:xfrm>
            <a:off x="8389112" y="1950000"/>
            <a:ext cx="2952496" cy="250000"/>
          </a:xfrm>
          <a:prstGeom prst="rect">
            <a:avLst/>
          </a:prstGeom>
          <a:noFill/>
          <a:ln/>
        </p:spPr>
        <p:txBody>
          <a:bodyPr wrap="square" lIns="0" tIns="0" rIns="0" bIns="0" rtlCol="0" anchor="ctr"/>
          <a:lstStyle/>
          <a:p>
            <a:pPr marL="0" indent="0" algn="l">
              <a:buNone/>
            </a:pPr>
            <a:r>
              <a:rPr lang="en-US" sz="1100" b="1" spc="200" dirty="0">
                <a:solidFill>
                  <a:srgbClr val="FF8A93"/>
                </a:solidFill>
                <a:latin typeface="Calibri" pitchFamily="34" charset="0"/>
                <a:ea typeface="Calibri" pitchFamily="34" charset="-122"/>
                <a:cs typeface="Calibri" pitchFamily="34" charset="-120"/>
              </a:rPr>
              <a:t>HYBRID</a:t>
            </a:r>
          </a:p>
        </p:txBody>
      </p:sp>
      <p:sp>
        <p:nvSpPr>
          <p:cNvPr id="16" name="Heading 16"/>
          <p:cNvSpPr txBox="1"/>
          <p:nvPr/>
        </p:nvSpPr>
        <p:spPr>
          <a:xfrm>
            <a:off x="8389112" y="2250000"/>
            <a:ext cx="2952496" cy="450000"/>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Combined Decision</a:t>
            </a:r>
          </a:p>
        </p:txBody>
      </p:sp>
      <p:sp>
        <p:nvSpPr>
          <p:cNvPr id="17" name="Desc 17"/>
          <p:cNvSpPr txBox="1"/>
          <p:nvPr/>
        </p:nvSpPr>
        <p:spPr>
          <a:xfrm>
            <a:off x="8389112" y="2800000"/>
            <a:ext cx="2952496" cy="900000"/>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alibri" pitchFamily="34" charset="0"/>
                <a:ea typeface="Calibri" pitchFamily="34" charset="-122"/>
                <a:cs typeface="Calibri" pitchFamily="34" charset="-120"/>
              </a:rPr>
              <a:t>Merges both views of each transaction to catch fraud that either model alone could miss.</a:t>
            </a:r>
          </a:p>
        </p:txBody>
      </p:sp>
      <p:sp>
        <p:nvSpPr>
          <p:cNvPr id="18" name="Bullets 18"/>
          <p:cNvSpPr txBox="1"/>
          <p:nvPr/>
        </p:nvSpPr>
        <p:spPr>
          <a:xfrm>
            <a:off x="8389112" y="3800000"/>
            <a:ext cx="2952496" cy="1450000"/>
          </a:xfrm>
          <a:prstGeom prst="rect">
            <a:avLst/>
          </a:prstGeom>
          <a:noFill/>
          <a:ln/>
        </p:spPr>
        <p:txBody>
          <a:bodyPr wrap="square" lIns="0" tIns="0" rIns="0" bIns="0" rtlCol="0" anchor="t"/>
          <a:lstStyle/>
          <a:p>
            <a:pPr marL="171450" indent="-171450" algn="l">
              <a:lnSpc>
                <a:spcPct val="110000"/>
              </a:lnSpc>
              <a:spcAft>
                <a:spcPts val="500"/>
              </a:spcAft>
              <a:buClr>
                <a:srgbClr val="E63946"/>
              </a:buClr>
              <a:buFont typeface="Arial"/>
              <a:buChar char="•"/>
            </a:pPr>
            <a:r>
              <a:rPr lang="en-US" sz="1200" dirty="0">
                <a:solidFill>
                  <a:srgbClr val="FFFFFF"/>
                </a:solidFill>
                <a:latin typeface="Calibri" pitchFamily="34" charset="0"/>
                <a:ea typeface="Calibri" pitchFamily="34" charset="-122"/>
                <a:cs typeface="Calibri" pitchFamily="34" charset="-120"/>
              </a:rPr>
              <a:t>Flag a transaction if Logistic Regression predicts fraud or Isolation Forest marks it an anomaly</a:t>
            </a:r>
          </a:p>
          <a:p>
            <a:pPr marL="171450" indent="-171450" algn="l">
              <a:lnSpc>
                <a:spcPct val="110000"/>
              </a:lnSpc>
              <a:spcAft>
                <a:spcPts val="500"/>
              </a:spcAft>
              <a:buClr>
                <a:srgbClr val="E63946"/>
              </a:buClr>
              <a:buFont typeface="Arial"/>
              <a:buChar char="•"/>
            </a:pPr>
            <a:r>
              <a:rPr lang="en-US" sz="1200" dirty="0">
                <a:solidFill>
                  <a:srgbClr val="FFFFFF"/>
                </a:solidFill>
                <a:latin typeface="Calibri" pitchFamily="34" charset="0"/>
                <a:ea typeface="Calibri" pitchFamily="34" charset="-122"/>
                <a:cs typeface="Calibri" pitchFamily="34" charset="-120"/>
              </a:rPr>
              <a:t>Each model and the hybrid are scored on the same test set</a:t>
            </a:r>
          </a:p>
        </p:txBody>
      </p:sp>
      <p:sp>
        <p:nvSpPr>
          <p:cNvPr id="19" name="Strip 19"/>
          <p:cNvSpPr/>
          <p:nvPr/>
        </p:nvSpPr>
        <p:spPr>
          <a:xfrm>
            <a:off x="594360" y="5650000"/>
            <a:ext cx="11003280" cy="520000"/>
          </a:xfrm>
          <a:prstGeom prst="roundRect">
            <a:avLst>
              <a:gd name="adj" fmla="val 10000"/>
            </a:avLst>
          </a:prstGeom>
          <a:solidFill>
            <a:srgbClr val="0B1B33"/>
          </a:solidFill>
          <a:ln/>
        </p:spPr>
      </p:sp>
      <p:sp>
        <p:nvSpPr>
          <p:cNvPr id="20" name="StripText 20"/>
          <p:cNvSpPr txBox="1"/>
          <p:nvPr/>
        </p:nvSpPr>
        <p:spPr>
          <a:xfrm>
            <a:off x="894360" y="5650000"/>
            <a:ext cx="10403280" cy="52000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Both models are fit on the 80% training set </a:t>
            </a:r>
            <a:r>
              <a:rPr lang="en-US" sz="1300" dirty="0">
                <a:solidFill>
                  <a:srgbClr val="CADCFC"/>
                </a:solidFill>
                <a:latin typeface="Calibri" pitchFamily="34" charset="0"/>
                <a:ea typeface="Calibri" pitchFamily="34" charset="-122"/>
                <a:cs typeface="Calibri" pitchFamily="34" charset="-120"/>
              </a:rPr>
              <a:t>and compared on the held-out 20% test set.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a:effectLst/>
      </p:bgPr>
    </p:bg>
    <p:spTree>
      <p:nvGrpSpPr>
        <p:cNvPr id="1" name=""/>
        <p:cNvGrpSpPr/>
        <p:nvPr/>
      </p:nvGrpSpPr>
      <p:grpSpPr>
        <a:xfrm>
          <a:off x="0" y="0"/>
          <a:ext cx="0" cy="0"/>
          <a:chOff x="0" y="0"/>
          <a:chExt cx="0" cy="0"/>
        </a:xfrm>
      </p:grpSpPr>
      <p:sp>
        <p:nvSpPr>
          <p:cNvPr id="2" name="Eyebrow 2"/>
          <p:cNvSpPr txBox="1"/>
          <p:nvPr/>
        </p:nvSpPr>
        <p:spPr>
          <a:xfrm>
            <a:off x="640080" y="457200"/>
            <a:ext cx="8229600" cy="365760"/>
          </a:xfrm>
          <a:prstGeom prst="rect">
            <a:avLst/>
          </a:prstGeom>
          <a:noFill/>
          <a:ln/>
        </p:spPr>
        <p:txBody>
          <a:bodyPr wrap="square" lIns="0" tIns="0" rIns="0" bIns="0" rtlCol="0" anchor="ctr"/>
          <a:lstStyle/>
          <a:p>
            <a:pPr marL="0" indent="0" algn="l">
              <a:buNone/>
            </a:pPr>
            <a:r>
              <a:rPr lang="en-US" sz="1300" b="1" spc="300" dirty="0">
                <a:solidFill>
                  <a:srgbClr val="E63946"/>
                </a:solidFill>
                <a:latin typeface="Calibri" pitchFamily="34" charset="0"/>
                <a:ea typeface="Calibri" pitchFamily="34" charset="-122"/>
                <a:cs typeface="Calibri" pitchFamily="34" charset="-120"/>
              </a:rPr>
              <a:t>MODEL EVALUATION</a:t>
            </a:r>
          </a:p>
        </p:txBody>
      </p:sp>
      <p:sp>
        <p:nvSpPr>
          <p:cNvPr id="3" name="Title 3"/>
          <p:cNvSpPr txBox="1"/>
          <p:nvPr/>
        </p:nvSpPr>
        <p:spPr>
          <a:xfrm>
            <a:off x="594360" y="822960"/>
            <a:ext cx="10881360" cy="685800"/>
          </a:xfrm>
          <a:prstGeom prst="rect">
            <a:avLst/>
          </a:prstGeom>
          <a:noFill/>
          <a:ln/>
        </p:spPr>
        <p:txBody>
          <a:bodyPr wrap="square" lIns="0" tIns="0" rIns="0" bIns="0" rtlCol="0" anchor="ctr"/>
          <a:lstStyle/>
          <a:p>
            <a:pPr marL="0" indent="0" algn="l">
              <a:buNone/>
            </a:pPr>
            <a:r>
              <a:rPr lang="en-US" sz="2800" b="1" dirty="0">
                <a:solidFill>
                  <a:srgbClr val="0B1B33"/>
                </a:solidFill>
                <a:latin typeface="Cambria" pitchFamily="34" charset="0"/>
                <a:ea typeface="Cambria" pitchFamily="34" charset="-122"/>
                <a:cs typeface="Cambria" pitchFamily="34" charset="-120"/>
              </a:rPr>
              <a:t>Measuring How Well the Models Detect Fraud</a:t>
            </a:r>
          </a:p>
        </p:txBody>
      </p:sp>
      <p:sp>
        <p:nvSpPr>
          <p:cNvPr id="4" name="Card 4"/>
          <p:cNvSpPr/>
          <p:nvPr/>
        </p:nvSpPr>
        <p:spPr>
          <a:xfrm>
            <a:off x="594360" y="1750000"/>
            <a:ext cx="3300000" cy="1300000"/>
          </a:xfrm>
          <a:prstGeom prst="roundRect">
            <a:avLst>
              <a:gd name="adj" fmla="val 5185"/>
            </a:avLst>
          </a:prstGeom>
          <a:solidFill>
            <a:srgbClr val="FFFFFF"/>
          </a:solidFill>
          <a:ln w="12700">
            <a:solidFill>
              <a:srgbClr val="DDE3ED"/>
            </a:solidFill>
          </a:ln>
        </p:spPr>
      </p:sp>
      <p:sp>
        <p:nvSpPr>
          <p:cNvPr id="5" name="Metric 5"/>
          <p:cNvSpPr txBox="1"/>
          <p:nvPr/>
        </p:nvSpPr>
        <p:spPr>
          <a:xfrm>
            <a:off x="794360" y="1880000"/>
            <a:ext cx="290000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Accuracy</a:t>
            </a:r>
          </a:p>
        </p:txBody>
      </p:sp>
      <p:sp>
        <p:nvSpPr>
          <p:cNvPr id="6" name="Formula 6"/>
          <p:cNvSpPr txBox="1"/>
          <p:nvPr/>
        </p:nvSpPr>
        <p:spPr>
          <a:xfrm>
            <a:off x="794360" y="2190000"/>
            <a:ext cx="2900000" cy="250000"/>
          </a:xfrm>
          <a:prstGeom prst="rect">
            <a:avLst/>
          </a:prstGeom>
          <a:noFill/>
          <a:ln/>
        </p:spPr>
        <p:txBody>
          <a:bodyPr wrap="square" lIns="0" tIns="0" rIns="0" bIns="0" rtlCol="0" anchor="ctr"/>
          <a:lstStyle/>
          <a:p>
            <a:pPr marL="0" indent="0" algn="l">
              <a:buNone/>
            </a:pPr>
            <a:r>
              <a:rPr lang="en-US" sz="1100" b="1" dirty="0">
                <a:solidFill>
                  <a:srgbClr val="E63946"/>
                </a:solidFill>
                <a:latin typeface="Courier New" pitchFamily="34" charset="0"/>
                <a:ea typeface="Courier New" pitchFamily="34" charset="-122"/>
                <a:cs typeface="Courier New" pitchFamily="34" charset="-120"/>
              </a:rPr>
              <a:t>(TP + TN) / All</a:t>
            </a:r>
          </a:p>
        </p:txBody>
      </p:sp>
      <p:sp>
        <p:nvSpPr>
          <p:cNvPr id="7" name="Desc 7"/>
          <p:cNvSpPr txBox="1"/>
          <p:nvPr/>
        </p:nvSpPr>
        <p:spPr>
          <a:xfrm>
            <a:off x="794360" y="2480000"/>
            <a:ext cx="2900000" cy="480000"/>
          </a:xfrm>
          <a:prstGeom prst="rect">
            <a:avLst/>
          </a:prstGeom>
          <a:noFill/>
          <a:ln/>
        </p:spPr>
        <p:txBody>
          <a:bodyPr wrap="square" lIns="0" tIns="0" rIns="0" bIns="0" rtlCol="0" anchor="t"/>
          <a:lstStyle/>
          <a:p>
            <a:pPr marL="0" indent="0" algn="l">
              <a:lnSpc>
                <a:spcPct val="110000"/>
              </a:lnSpc>
              <a:buNone/>
            </a:pPr>
            <a:r>
              <a:rPr lang="en-US" sz="1100" dirty="0">
                <a:solidFill>
                  <a:srgbClr val="6B7688"/>
                </a:solidFill>
                <a:latin typeface="Calibri" pitchFamily="34" charset="0"/>
                <a:ea typeface="Calibri" pitchFamily="34" charset="-122"/>
                <a:cs typeface="Calibri" pitchFamily="34" charset="-120"/>
              </a:rPr>
              <a:t>Overall share correct — misleading: always saying 'legit' scores ~99.8%.</a:t>
            </a:r>
          </a:p>
        </p:txBody>
      </p:sp>
      <p:sp>
        <p:nvSpPr>
          <p:cNvPr id="8" name="Card 8"/>
          <p:cNvSpPr/>
          <p:nvPr/>
        </p:nvSpPr>
        <p:spPr>
          <a:xfrm>
            <a:off x="4144360" y="1750000"/>
            <a:ext cx="3300000" cy="1300000"/>
          </a:xfrm>
          <a:prstGeom prst="roundRect">
            <a:avLst>
              <a:gd name="adj" fmla="val 5185"/>
            </a:avLst>
          </a:prstGeom>
          <a:solidFill>
            <a:srgbClr val="FFFFFF"/>
          </a:solidFill>
          <a:ln w="12700">
            <a:solidFill>
              <a:srgbClr val="DDE3ED"/>
            </a:solidFill>
          </a:ln>
        </p:spPr>
      </p:sp>
      <p:sp>
        <p:nvSpPr>
          <p:cNvPr id="9" name="Metric 9"/>
          <p:cNvSpPr txBox="1"/>
          <p:nvPr/>
        </p:nvSpPr>
        <p:spPr>
          <a:xfrm>
            <a:off x="4344360" y="1880000"/>
            <a:ext cx="290000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Precision</a:t>
            </a:r>
          </a:p>
        </p:txBody>
      </p:sp>
      <p:sp>
        <p:nvSpPr>
          <p:cNvPr id="10" name="Formula 10"/>
          <p:cNvSpPr txBox="1"/>
          <p:nvPr/>
        </p:nvSpPr>
        <p:spPr>
          <a:xfrm>
            <a:off x="4344360" y="2190000"/>
            <a:ext cx="2900000" cy="250000"/>
          </a:xfrm>
          <a:prstGeom prst="rect">
            <a:avLst/>
          </a:prstGeom>
          <a:noFill/>
          <a:ln/>
        </p:spPr>
        <p:txBody>
          <a:bodyPr wrap="square" lIns="0" tIns="0" rIns="0" bIns="0" rtlCol="0" anchor="ctr"/>
          <a:lstStyle/>
          <a:p>
            <a:pPr marL="0" indent="0" algn="l">
              <a:buNone/>
            </a:pPr>
            <a:r>
              <a:rPr lang="en-US" sz="1100" b="1" dirty="0">
                <a:solidFill>
                  <a:srgbClr val="E63946"/>
                </a:solidFill>
                <a:latin typeface="Courier New" pitchFamily="34" charset="0"/>
                <a:ea typeface="Courier New" pitchFamily="34" charset="-122"/>
                <a:cs typeface="Courier New" pitchFamily="34" charset="-120"/>
              </a:rPr>
              <a:t>TP / (TP + FP)</a:t>
            </a:r>
          </a:p>
        </p:txBody>
      </p:sp>
      <p:sp>
        <p:nvSpPr>
          <p:cNvPr id="11" name="Desc 11"/>
          <p:cNvSpPr txBox="1"/>
          <p:nvPr/>
        </p:nvSpPr>
        <p:spPr>
          <a:xfrm>
            <a:off x="4344360" y="2480000"/>
            <a:ext cx="2900000" cy="480000"/>
          </a:xfrm>
          <a:prstGeom prst="rect">
            <a:avLst/>
          </a:prstGeom>
          <a:noFill/>
          <a:ln/>
        </p:spPr>
        <p:txBody>
          <a:bodyPr wrap="square" lIns="0" tIns="0" rIns="0" bIns="0" rtlCol="0" anchor="t"/>
          <a:lstStyle/>
          <a:p>
            <a:pPr marL="0" indent="0" algn="l">
              <a:lnSpc>
                <a:spcPct val="110000"/>
              </a:lnSpc>
              <a:buNone/>
            </a:pPr>
            <a:r>
              <a:rPr lang="en-US" sz="1100" dirty="0">
                <a:solidFill>
                  <a:srgbClr val="6B7688"/>
                </a:solidFill>
                <a:latin typeface="Calibri" pitchFamily="34" charset="0"/>
                <a:ea typeface="Calibri" pitchFamily="34" charset="-122"/>
                <a:cs typeface="Calibri" pitchFamily="34" charset="-120"/>
              </a:rPr>
              <a:t>Of flagged transactions, how many are truly fraud (fewer false alarms).</a:t>
            </a:r>
          </a:p>
        </p:txBody>
      </p:sp>
      <p:sp>
        <p:nvSpPr>
          <p:cNvPr id="12" name="Card 12"/>
          <p:cNvSpPr/>
          <p:nvPr/>
        </p:nvSpPr>
        <p:spPr>
          <a:xfrm>
            <a:off x="594360" y="3200000"/>
            <a:ext cx="3300000" cy="1300000"/>
          </a:xfrm>
          <a:prstGeom prst="roundRect">
            <a:avLst>
              <a:gd name="adj" fmla="val 5185"/>
            </a:avLst>
          </a:prstGeom>
          <a:solidFill>
            <a:srgbClr val="FFFFFF"/>
          </a:solidFill>
          <a:ln w="12700">
            <a:solidFill>
              <a:srgbClr val="DDE3ED"/>
            </a:solidFill>
          </a:ln>
        </p:spPr>
      </p:sp>
      <p:sp>
        <p:nvSpPr>
          <p:cNvPr id="13" name="Metric 13"/>
          <p:cNvSpPr txBox="1"/>
          <p:nvPr/>
        </p:nvSpPr>
        <p:spPr>
          <a:xfrm>
            <a:off x="794360" y="3330000"/>
            <a:ext cx="290000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Recall</a:t>
            </a:r>
          </a:p>
        </p:txBody>
      </p:sp>
      <p:sp>
        <p:nvSpPr>
          <p:cNvPr id="14" name="Formula 14"/>
          <p:cNvSpPr txBox="1"/>
          <p:nvPr/>
        </p:nvSpPr>
        <p:spPr>
          <a:xfrm>
            <a:off x="794360" y="3640000"/>
            <a:ext cx="2900000" cy="250000"/>
          </a:xfrm>
          <a:prstGeom prst="rect">
            <a:avLst/>
          </a:prstGeom>
          <a:noFill/>
          <a:ln/>
        </p:spPr>
        <p:txBody>
          <a:bodyPr wrap="square" lIns="0" tIns="0" rIns="0" bIns="0" rtlCol="0" anchor="ctr"/>
          <a:lstStyle/>
          <a:p>
            <a:pPr marL="0" indent="0" algn="l">
              <a:buNone/>
            </a:pPr>
            <a:r>
              <a:rPr lang="en-US" sz="1100" b="1" dirty="0">
                <a:solidFill>
                  <a:srgbClr val="E63946"/>
                </a:solidFill>
                <a:latin typeface="Courier New" pitchFamily="34" charset="0"/>
                <a:ea typeface="Courier New" pitchFamily="34" charset="-122"/>
                <a:cs typeface="Courier New" pitchFamily="34" charset="-120"/>
              </a:rPr>
              <a:t>TP / (TP + FN)</a:t>
            </a:r>
          </a:p>
        </p:txBody>
      </p:sp>
      <p:sp>
        <p:nvSpPr>
          <p:cNvPr id="15" name="Desc 15"/>
          <p:cNvSpPr txBox="1"/>
          <p:nvPr/>
        </p:nvSpPr>
        <p:spPr>
          <a:xfrm>
            <a:off x="794360" y="3930000"/>
            <a:ext cx="2900000" cy="480000"/>
          </a:xfrm>
          <a:prstGeom prst="rect">
            <a:avLst/>
          </a:prstGeom>
          <a:noFill/>
          <a:ln/>
        </p:spPr>
        <p:txBody>
          <a:bodyPr wrap="square" lIns="0" tIns="0" rIns="0" bIns="0" rtlCol="0" anchor="t"/>
          <a:lstStyle/>
          <a:p>
            <a:pPr marL="0" indent="0" algn="l">
              <a:lnSpc>
                <a:spcPct val="110000"/>
              </a:lnSpc>
              <a:buNone/>
            </a:pPr>
            <a:r>
              <a:rPr lang="en-US" sz="1100" dirty="0">
                <a:solidFill>
                  <a:srgbClr val="6B7688"/>
                </a:solidFill>
                <a:latin typeface="Calibri" pitchFamily="34" charset="0"/>
                <a:ea typeface="Calibri" pitchFamily="34" charset="-122"/>
                <a:cs typeface="Calibri" pitchFamily="34" charset="-120"/>
              </a:rPr>
              <a:t>Of all real fraud, how much is caught — missed fraud costs real money.</a:t>
            </a:r>
          </a:p>
        </p:txBody>
      </p:sp>
      <p:sp>
        <p:nvSpPr>
          <p:cNvPr id="16" name="Card 16"/>
          <p:cNvSpPr/>
          <p:nvPr/>
        </p:nvSpPr>
        <p:spPr>
          <a:xfrm>
            <a:off x="4144360" y="3200000"/>
            <a:ext cx="3300000" cy="1300000"/>
          </a:xfrm>
          <a:prstGeom prst="roundRect">
            <a:avLst>
              <a:gd name="adj" fmla="val 5185"/>
            </a:avLst>
          </a:prstGeom>
          <a:solidFill>
            <a:srgbClr val="FFFFFF"/>
          </a:solidFill>
          <a:ln w="12700">
            <a:solidFill>
              <a:srgbClr val="DDE3ED"/>
            </a:solidFill>
          </a:ln>
        </p:spPr>
      </p:sp>
      <p:sp>
        <p:nvSpPr>
          <p:cNvPr id="17" name="Metric 17"/>
          <p:cNvSpPr txBox="1"/>
          <p:nvPr/>
        </p:nvSpPr>
        <p:spPr>
          <a:xfrm>
            <a:off x="4344360" y="3330000"/>
            <a:ext cx="290000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F1-Score</a:t>
            </a:r>
          </a:p>
        </p:txBody>
      </p:sp>
      <p:sp>
        <p:nvSpPr>
          <p:cNvPr id="18" name="Formula 18"/>
          <p:cNvSpPr txBox="1"/>
          <p:nvPr/>
        </p:nvSpPr>
        <p:spPr>
          <a:xfrm>
            <a:off x="4344360" y="3640000"/>
            <a:ext cx="2900000" cy="250000"/>
          </a:xfrm>
          <a:prstGeom prst="rect">
            <a:avLst/>
          </a:prstGeom>
          <a:noFill/>
          <a:ln/>
        </p:spPr>
        <p:txBody>
          <a:bodyPr wrap="square" lIns="0" tIns="0" rIns="0" bIns="0" rtlCol="0" anchor="ctr"/>
          <a:lstStyle/>
          <a:p>
            <a:pPr marL="0" indent="0" algn="l">
              <a:buNone/>
            </a:pPr>
            <a:r>
              <a:rPr lang="en-US" sz="1100" b="1" dirty="0">
                <a:solidFill>
                  <a:srgbClr val="E63946"/>
                </a:solidFill>
                <a:latin typeface="Courier New" pitchFamily="34" charset="0"/>
                <a:ea typeface="Courier New" pitchFamily="34" charset="-122"/>
                <a:cs typeface="Courier New" pitchFamily="34" charset="-120"/>
              </a:rPr>
              <a:t>2·P·R / (P + R)</a:t>
            </a:r>
          </a:p>
        </p:txBody>
      </p:sp>
      <p:sp>
        <p:nvSpPr>
          <p:cNvPr id="19" name="Desc 19"/>
          <p:cNvSpPr txBox="1"/>
          <p:nvPr/>
        </p:nvSpPr>
        <p:spPr>
          <a:xfrm>
            <a:off x="4344360" y="3930000"/>
            <a:ext cx="2900000" cy="480000"/>
          </a:xfrm>
          <a:prstGeom prst="rect">
            <a:avLst/>
          </a:prstGeom>
          <a:noFill/>
          <a:ln/>
        </p:spPr>
        <p:txBody>
          <a:bodyPr wrap="square" lIns="0" tIns="0" rIns="0" bIns="0" rtlCol="0" anchor="t"/>
          <a:lstStyle/>
          <a:p>
            <a:pPr marL="0" indent="0" algn="l">
              <a:lnSpc>
                <a:spcPct val="110000"/>
              </a:lnSpc>
              <a:buNone/>
            </a:pPr>
            <a:r>
              <a:rPr lang="en-US" sz="1100" dirty="0">
                <a:solidFill>
                  <a:srgbClr val="6B7688"/>
                </a:solidFill>
                <a:latin typeface="Calibri" pitchFamily="34" charset="0"/>
                <a:ea typeface="Calibri" pitchFamily="34" charset="-122"/>
                <a:cs typeface="Calibri" pitchFamily="34" charset="-120"/>
              </a:rPr>
              <a:t>Single score balancing precision and recall; suits imbalanced data.</a:t>
            </a:r>
          </a:p>
        </p:txBody>
      </p:sp>
      <p:sp>
        <p:nvSpPr>
          <p:cNvPr id="20" name="Card 20"/>
          <p:cNvSpPr/>
          <p:nvPr/>
        </p:nvSpPr>
        <p:spPr>
          <a:xfrm>
            <a:off x="594360" y="4650000"/>
            <a:ext cx="3300000" cy="1300000"/>
          </a:xfrm>
          <a:prstGeom prst="roundRect">
            <a:avLst>
              <a:gd name="adj" fmla="val 5185"/>
            </a:avLst>
          </a:prstGeom>
          <a:solidFill>
            <a:srgbClr val="FFFFFF"/>
          </a:solidFill>
          <a:ln w="12700">
            <a:solidFill>
              <a:srgbClr val="DDE3ED"/>
            </a:solidFill>
          </a:ln>
        </p:spPr>
      </p:sp>
      <p:sp>
        <p:nvSpPr>
          <p:cNvPr id="21" name="Metric 21"/>
          <p:cNvSpPr txBox="1"/>
          <p:nvPr/>
        </p:nvSpPr>
        <p:spPr>
          <a:xfrm>
            <a:off x="794360" y="4780000"/>
            <a:ext cx="290000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ROC-AUC</a:t>
            </a:r>
          </a:p>
        </p:txBody>
      </p:sp>
      <p:sp>
        <p:nvSpPr>
          <p:cNvPr id="22" name="Formula 22"/>
          <p:cNvSpPr txBox="1"/>
          <p:nvPr/>
        </p:nvSpPr>
        <p:spPr>
          <a:xfrm>
            <a:off x="794360" y="5090000"/>
            <a:ext cx="2900000" cy="250000"/>
          </a:xfrm>
          <a:prstGeom prst="rect">
            <a:avLst/>
          </a:prstGeom>
          <a:noFill/>
          <a:ln/>
        </p:spPr>
        <p:txBody>
          <a:bodyPr wrap="square" lIns="0" tIns="0" rIns="0" bIns="0" rtlCol="0" anchor="ctr"/>
          <a:lstStyle/>
          <a:p>
            <a:pPr marL="0" indent="0" algn="l">
              <a:buNone/>
            </a:pPr>
            <a:r>
              <a:rPr lang="en-US" sz="1100" b="1" dirty="0">
                <a:solidFill>
                  <a:srgbClr val="E63946"/>
                </a:solidFill>
                <a:latin typeface="Courier New" pitchFamily="34" charset="0"/>
                <a:ea typeface="Courier New" pitchFamily="34" charset="-122"/>
                <a:cs typeface="Courier New" pitchFamily="34" charset="-120"/>
              </a:rPr>
              <a:t>Area under TPR vs FPR</a:t>
            </a:r>
          </a:p>
        </p:txBody>
      </p:sp>
      <p:sp>
        <p:nvSpPr>
          <p:cNvPr id="23" name="Desc 23"/>
          <p:cNvSpPr txBox="1"/>
          <p:nvPr/>
        </p:nvSpPr>
        <p:spPr>
          <a:xfrm>
            <a:off x="794360" y="5380000"/>
            <a:ext cx="2900000" cy="480000"/>
          </a:xfrm>
          <a:prstGeom prst="rect">
            <a:avLst/>
          </a:prstGeom>
          <a:noFill/>
          <a:ln/>
        </p:spPr>
        <p:txBody>
          <a:bodyPr wrap="square" lIns="0" tIns="0" rIns="0" bIns="0" rtlCol="0" anchor="t"/>
          <a:lstStyle/>
          <a:p>
            <a:pPr marL="0" indent="0" algn="l">
              <a:lnSpc>
                <a:spcPct val="110000"/>
              </a:lnSpc>
              <a:buNone/>
            </a:pPr>
            <a:r>
              <a:rPr lang="en-US" sz="1100" dirty="0">
                <a:solidFill>
                  <a:srgbClr val="6B7688"/>
                </a:solidFill>
                <a:latin typeface="Calibri" pitchFamily="34" charset="0"/>
                <a:ea typeface="Calibri" pitchFamily="34" charset="-122"/>
                <a:cs typeface="Calibri" pitchFamily="34" charset="-120"/>
              </a:rPr>
              <a:t>Ranks fraud above legitimate across all thresholds (1.0 = perfect).</a:t>
            </a:r>
          </a:p>
        </p:txBody>
      </p:sp>
      <p:sp>
        <p:nvSpPr>
          <p:cNvPr id="24" name="Card 24"/>
          <p:cNvSpPr/>
          <p:nvPr/>
        </p:nvSpPr>
        <p:spPr>
          <a:xfrm>
            <a:off x="4144360" y="4650000"/>
            <a:ext cx="3300000" cy="1300000"/>
          </a:xfrm>
          <a:prstGeom prst="roundRect">
            <a:avLst>
              <a:gd name="adj" fmla="val 5185"/>
            </a:avLst>
          </a:prstGeom>
          <a:solidFill>
            <a:srgbClr val="0B1B33"/>
          </a:solidFill>
          <a:ln w="12700">
            <a:solidFill>
              <a:srgbClr val="0B1B33"/>
            </a:solidFill>
          </a:ln>
        </p:spPr>
      </p:sp>
      <p:sp>
        <p:nvSpPr>
          <p:cNvPr id="25" name="Metric 25"/>
          <p:cNvSpPr txBox="1"/>
          <p:nvPr/>
        </p:nvSpPr>
        <p:spPr>
          <a:xfrm>
            <a:off x="4344360" y="4780000"/>
            <a:ext cx="2900000" cy="30000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What matters most here</a:t>
            </a:r>
          </a:p>
        </p:txBody>
      </p:sp>
      <p:sp>
        <p:nvSpPr>
          <p:cNvPr id="26" name="Desc 26"/>
          <p:cNvSpPr txBox="1"/>
          <p:nvPr/>
        </p:nvSpPr>
        <p:spPr>
          <a:xfrm>
            <a:off x="4344360" y="5170000"/>
            <a:ext cx="2900000" cy="650000"/>
          </a:xfrm>
          <a:prstGeom prst="rect">
            <a:avLst/>
          </a:prstGeom>
          <a:noFill/>
          <a:ln/>
        </p:spPr>
        <p:txBody>
          <a:bodyPr wrap="square" lIns="0" tIns="0" rIns="0" bIns="0" rtlCol="0" anchor="t"/>
          <a:lstStyle/>
          <a:p>
            <a:pPr marL="0" indent="0" algn="l">
              <a:lnSpc>
                <a:spcPct val="110000"/>
              </a:lnSpc>
              <a:buNone/>
            </a:pPr>
            <a:r>
              <a:rPr lang="en-US" sz="1200" dirty="0">
                <a:solidFill>
                  <a:srgbClr val="CADCFC"/>
                </a:solidFill>
                <a:latin typeface="Calibri" pitchFamily="34" charset="0"/>
                <a:ea typeface="Calibri" pitchFamily="34" charset="-122"/>
                <a:cs typeface="Calibri" pitchFamily="34" charset="-120"/>
              </a:rPr>
              <a:t>Prioritize recall, precision and F1 — accuracy alone is not reliable on imbalanced data.</a:t>
            </a:r>
          </a:p>
        </p:txBody>
      </p:sp>
      <p:sp>
        <p:nvSpPr>
          <p:cNvPr id="27" name="Card 27"/>
          <p:cNvSpPr/>
          <p:nvPr/>
        </p:nvSpPr>
        <p:spPr>
          <a:xfrm>
            <a:off x="7744360" y="1750000"/>
            <a:ext cx="3853280" cy="4200000"/>
          </a:xfrm>
          <a:prstGeom prst="roundRect">
            <a:avLst>
              <a:gd name="adj" fmla="val 5185"/>
            </a:avLst>
          </a:prstGeom>
          <a:solidFill>
            <a:srgbClr val="FFFFFF"/>
          </a:solidFill>
          <a:ln w="12700">
            <a:solidFill>
              <a:srgbClr val="DDE3ED"/>
            </a:solidFill>
          </a:ln>
        </p:spPr>
      </p:sp>
      <p:sp>
        <p:nvSpPr>
          <p:cNvPr id="28" name="Heading 28"/>
          <p:cNvSpPr txBox="1"/>
          <p:nvPr/>
        </p:nvSpPr>
        <p:spPr>
          <a:xfrm>
            <a:off x="7944360" y="1880000"/>
            <a:ext cx="3453280" cy="300000"/>
          </a:xfrm>
          <a:prstGeom prst="rect">
            <a:avLst/>
          </a:prstGeom>
          <a:noFill/>
          <a:ln/>
        </p:spPr>
        <p:txBody>
          <a:bodyPr wrap="square" lIns="0" tIns="0" rIns="0" bIns="0" rtlCol="0" anchor="ctr"/>
          <a:lstStyle/>
          <a:p>
            <a:pPr marL="0" indent="0" algn="l">
              <a:buNone/>
            </a:pPr>
            <a:r>
              <a:rPr lang="en-US" sz="1500" b="1" dirty="0">
                <a:solidFill>
                  <a:srgbClr val="0B1B33"/>
                </a:solidFill>
                <a:latin typeface="Calibri" pitchFamily="34" charset="0"/>
                <a:ea typeface="Calibri" pitchFamily="34" charset="-122"/>
                <a:cs typeface="Calibri" pitchFamily="34" charset="-120"/>
              </a:rPr>
              <a:t>Confusion Matrix</a:t>
            </a:r>
          </a:p>
        </p:txBody>
      </p:sp>
      <p:sp>
        <p:nvSpPr>
          <p:cNvPr id="29" name="ColHead 29"/>
          <p:cNvSpPr txBox="1"/>
          <p:nvPr/>
        </p:nvSpPr>
        <p:spPr>
          <a:xfrm>
            <a:off x="8544360" y="2370000"/>
            <a:ext cx="1396640" cy="280000"/>
          </a:xfrm>
          <a:prstGeom prst="rect">
            <a:avLst/>
          </a:prstGeom>
          <a:noFill/>
          <a:ln/>
        </p:spPr>
        <p:txBody>
          <a:bodyPr wrap="square" lIns="0" tIns="0" rIns="0" bIns="0" rtlCol="0" anchor="ctr"/>
          <a:lstStyle/>
          <a:p>
            <a:pPr marL="0" indent="0" algn="ctr">
              <a:buNone/>
            </a:pPr>
            <a:r>
              <a:rPr lang="en-US" sz="1100" b="1" dirty="0">
                <a:solidFill>
                  <a:srgbClr val="6B7688"/>
                </a:solidFill>
                <a:latin typeface="Calibri" pitchFamily="34" charset="0"/>
                <a:ea typeface="Calibri" pitchFamily="34" charset="-122"/>
                <a:cs typeface="Calibri" pitchFamily="34" charset="-120"/>
              </a:rPr>
              <a:t>Predicted: Legit</a:t>
            </a:r>
          </a:p>
        </p:txBody>
      </p:sp>
      <p:sp>
        <p:nvSpPr>
          <p:cNvPr id="30" name="ColHead 30"/>
          <p:cNvSpPr txBox="1"/>
          <p:nvPr/>
        </p:nvSpPr>
        <p:spPr>
          <a:xfrm>
            <a:off x="10001000" y="2370000"/>
            <a:ext cx="1396640" cy="280000"/>
          </a:xfrm>
          <a:prstGeom prst="rect">
            <a:avLst/>
          </a:prstGeom>
          <a:noFill/>
          <a:ln/>
        </p:spPr>
        <p:txBody>
          <a:bodyPr wrap="square" lIns="0" tIns="0" rIns="0" bIns="0" rtlCol="0" anchor="ctr"/>
          <a:lstStyle/>
          <a:p>
            <a:pPr marL="0" indent="0" algn="ctr">
              <a:buNone/>
            </a:pPr>
            <a:r>
              <a:rPr lang="en-US" sz="1100" b="1" dirty="0">
                <a:solidFill>
                  <a:srgbClr val="6B7688"/>
                </a:solidFill>
                <a:latin typeface="Calibri" pitchFamily="34" charset="0"/>
                <a:ea typeface="Calibri" pitchFamily="34" charset="-122"/>
                <a:cs typeface="Calibri" pitchFamily="34" charset="-120"/>
              </a:rPr>
              <a:t>Predicted: Fraud</a:t>
            </a:r>
          </a:p>
        </p:txBody>
      </p:sp>
      <p:sp>
        <p:nvSpPr>
          <p:cNvPr id="31" name="RowHead 31"/>
          <p:cNvSpPr txBox="1"/>
          <p:nvPr/>
        </p:nvSpPr>
        <p:spPr>
          <a:xfrm>
            <a:off x="7944360" y="2750000"/>
            <a:ext cx="560000" cy="1000000"/>
          </a:xfrm>
          <a:prstGeom prst="rect">
            <a:avLst/>
          </a:prstGeom>
          <a:noFill/>
          <a:ln/>
        </p:spPr>
        <p:txBody>
          <a:bodyPr wrap="square" lIns="0" tIns="0" rIns="0" bIns="0" rtlCol="0" anchor="ctr"/>
          <a:lstStyle/>
          <a:p>
            <a:pPr marL="0" indent="0" algn="l">
              <a:buNone/>
            </a:pPr>
            <a:r>
              <a:rPr lang="en-US" sz="1100" b="1" dirty="0">
                <a:solidFill>
                  <a:srgbClr val="6B7688"/>
                </a:solidFill>
                <a:latin typeface="Calibri" pitchFamily="34" charset="0"/>
                <a:ea typeface="Calibri" pitchFamily="34" charset="-122"/>
                <a:cs typeface="Calibri" pitchFamily="34" charset="-120"/>
              </a:rPr>
              <a:t>Actual: Legit</a:t>
            </a:r>
          </a:p>
        </p:txBody>
      </p:sp>
      <p:sp>
        <p:nvSpPr>
          <p:cNvPr id="32" name="RowHead 32"/>
          <p:cNvSpPr txBox="1"/>
          <p:nvPr/>
        </p:nvSpPr>
        <p:spPr>
          <a:xfrm>
            <a:off x="7944360" y="3810000"/>
            <a:ext cx="560000" cy="1000000"/>
          </a:xfrm>
          <a:prstGeom prst="rect">
            <a:avLst/>
          </a:prstGeom>
          <a:noFill/>
          <a:ln/>
        </p:spPr>
        <p:txBody>
          <a:bodyPr wrap="square" lIns="0" tIns="0" rIns="0" bIns="0" rtlCol="0" anchor="ctr"/>
          <a:lstStyle/>
          <a:p>
            <a:pPr marL="0" indent="0" algn="l">
              <a:buNone/>
            </a:pPr>
            <a:r>
              <a:rPr lang="en-US" sz="1100" b="1" dirty="0">
                <a:solidFill>
                  <a:srgbClr val="6B7688"/>
                </a:solidFill>
                <a:latin typeface="Calibri" pitchFamily="34" charset="0"/>
                <a:ea typeface="Calibri" pitchFamily="34" charset="-122"/>
                <a:cs typeface="Calibri" pitchFamily="34" charset="-120"/>
              </a:rPr>
              <a:t>Actual: Fraud</a:t>
            </a:r>
          </a:p>
        </p:txBody>
      </p:sp>
      <p:sp>
        <p:nvSpPr>
          <p:cNvPr id="33" name="Cell 33"/>
          <p:cNvSpPr/>
          <p:nvPr/>
        </p:nvSpPr>
        <p:spPr>
          <a:xfrm>
            <a:off x="8544360" y="2750000"/>
            <a:ext cx="1396640" cy="1000000"/>
          </a:xfrm>
          <a:prstGeom prst="roundRect">
            <a:avLst>
              <a:gd name="adj" fmla="val 8000"/>
            </a:avLst>
          </a:prstGeom>
          <a:solidFill>
            <a:srgbClr val="E3ECF8"/>
          </a:solidFill>
          <a:ln/>
        </p:spPr>
      </p:sp>
      <p:sp>
        <p:nvSpPr>
          <p:cNvPr id="34" name="CellAbbr 34"/>
          <p:cNvSpPr txBox="1"/>
          <p:nvPr/>
        </p:nvSpPr>
        <p:spPr>
          <a:xfrm>
            <a:off x="8544360" y="2850000"/>
            <a:ext cx="1396640" cy="450000"/>
          </a:xfrm>
          <a:prstGeom prst="rect">
            <a:avLst/>
          </a:prstGeom>
          <a:noFill/>
          <a:ln/>
        </p:spPr>
        <p:txBody>
          <a:bodyPr wrap="square" lIns="0" tIns="0" rIns="0" bIns="0" rtlCol="0" anchor="ctr"/>
          <a:lstStyle/>
          <a:p>
            <a:pPr marL="0" indent="0" algn="ctr">
              <a:buNone/>
            </a:pPr>
            <a:r>
              <a:rPr lang="en-US" sz="2400" b="1" dirty="0">
                <a:solidFill>
                  <a:srgbClr val="0B1B33"/>
                </a:solidFill>
                <a:latin typeface="Cambria" pitchFamily="34" charset="0"/>
                <a:ea typeface="Cambria" pitchFamily="34" charset="-122"/>
                <a:cs typeface="Cambria" pitchFamily="34" charset="-120"/>
              </a:rPr>
              <a:t>TN</a:t>
            </a:r>
          </a:p>
        </p:txBody>
      </p:sp>
      <p:sp>
        <p:nvSpPr>
          <p:cNvPr id="35" name="CellLabel 35"/>
          <p:cNvSpPr txBox="1"/>
          <p:nvPr/>
        </p:nvSpPr>
        <p:spPr>
          <a:xfrm>
            <a:off x="8544360" y="3310000"/>
            <a:ext cx="1396640" cy="300000"/>
          </a:xfrm>
          <a:prstGeom prst="rect">
            <a:avLst/>
          </a:prstGeom>
          <a:noFill/>
          <a:ln/>
        </p:spPr>
        <p:txBody>
          <a:bodyPr wrap="square" lIns="0" tIns="0" rIns="0" bIns="0" rtlCol="0" anchor="ctr"/>
          <a:lstStyle/>
          <a:p>
            <a:pPr marL="0" indent="0" algn="ctr">
              <a:buNone/>
            </a:pPr>
            <a:r>
              <a:rPr lang="en-US" sz="1100" dirty="0">
                <a:solidFill>
                  <a:srgbClr val="0B1B33"/>
                </a:solidFill>
                <a:latin typeface="Calibri" pitchFamily="34" charset="0"/>
                <a:ea typeface="Calibri" pitchFamily="34" charset="-122"/>
                <a:cs typeface="Calibri" pitchFamily="34" charset="-120"/>
              </a:rPr>
              <a:t>Legit passed</a:t>
            </a:r>
          </a:p>
        </p:txBody>
      </p:sp>
      <p:sp>
        <p:nvSpPr>
          <p:cNvPr id="36" name="Cell 36"/>
          <p:cNvSpPr/>
          <p:nvPr/>
        </p:nvSpPr>
        <p:spPr>
          <a:xfrm>
            <a:off x="10001000" y="2750000"/>
            <a:ext cx="1396640" cy="1000000"/>
          </a:xfrm>
          <a:prstGeom prst="roundRect">
            <a:avLst>
              <a:gd name="adj" fmla="val 8000"/>
            </a:avLst>
          </a:prstGeom>
          <a:solidFill>
            <a:srgbClr val="FDECEE"/>
          </a:solidFill>
          <a:ln/>
        </p:spPr>
      </p:sp>
      <p:sp>
        <p:nvSpPr>
          <p:cNvPr id="37" name="CellAbbr 37"/>
          <p:cNvSpPr txBox="1"/>
          <p:nvPr/>
        </p:nvSpPr>
        <p:spPr>
          <a:xfrm>
            <a:off x="10001000" y="2850000"/>
            <a:ext cx="1396640" cy="450000"/>
          </a:xfrm>
          <a:prstGeom prst="rect">
            <a:avLst/>
          </a:prstGeom>
          <a:noFill/>
          <a:ln/>
        </p:spPr>
        <p:txBody>
          <a:bodyPr wrap="square" lIns="0" tIns="0" rIns="0" bIns="0" rtlCol="0" anchor="ctr"/>
          <a:lstStyle/>
          <a:p>
            <a:pPr marL="0" indent="0" algn="ctr">
              <a:buNone/>
            </a:pPr>
            <a:r>
              <a:rPr lang="en-US" sz="2400" b="1" dirty="0">
                <a:solidFill>
                  <a:srgbClr val="E63946"/>
                </a:solidFill>
                <a:latin typeface="Cambria" pitchFamily="34" charset="0"/>
                <a:ea typeface="Cambria" pitchFamily="34" charset="-122"/>
                <a:cs typeface="Cambria" pitchFamily="34" charset="-120"/>
              </a:rPr>
              <a:t>FP</a:t>
            </a:r>
          </a:p>
        </p:txBody>
      </p:sp>
      <p:sp>
        <p:nvSpPr>
          <p:cNvPr id="38" name="CellLabel 38"/>
          <p:cNvSpPr txBox="1"/>
          <p:nvPr/>
        </p:nvSpPr>
        <p:spPr>
          <a:xfrm>
            <a:off x="10001000" y="3310000"/>
            <a:ext cx="1396640" cy="300000"/>
          </a:xfrm>
          <a:prstGeom prst="rect">
            <a:avLst/>
          </a:prstGeom>
          <a:noFill/>
          <a:ln/>
        </p:spPr>
        <p:txBody>
          <a:bodyPr wrap="square" lIns="0" tIns="0" rIns="0" bIns="0" rtlCol="0" anchor="ctr"/>
          <a:lstStyle/>
          <a:p>
            <a:pPr marL="0" indent="0" algn="ctr">
              <a:buNone/>
            </a:pPr>
            <a:r>
              <a:rPr lang="en-US" sz="1100" dirty="0">
                <a:solidFill>
                  <a:srgbClr val="0B1B33"/>
                </a:solidFill>
                <a:latin typeface="Calibri" pitchFamily="34" charset="0"/>
                <a:ea typeface="Calibri" pitchFamily="34" charset="-122"/>
                <a:cs typeface="Calibri" pitchFamily="34" charset="-120"/>
              </a:rPr>
              <a:t>False alarm</a:t>
            </a:r>
          </a:p>
        </p:txBody>
      </p:sp>
      <p:sp>
        <p:nvSpPr>
          <p:cNvPr id="39" name="Cell 39"/>
          <p:cNvSpPr/>
          <p:nvPr/>
        </p:nvSpPr>
        <p:spPr>
          <a:xfrm>
            <a:off x="8544360" y="3810000"/>
            <a:ext cx="1396640" cy="1000000"/>
          </a:xfrm>
          <a:prstGeom prst="roundRect">
            <a:avLst>
              <a:gd name="adj" fmla="val 8000"/>
            </a:avLst>
          </a:prstGeom>
          <a:solidFill>
            <a:srgbClr val="E63946"/>
          </a:solidFill>
          <a:ln/>
        </p:spPr>
      </p:sp>
      <p:sp>
        <p:nvSpPr>
          <p:cNvPr id="40" name="CellAbbr 40"/>
          <p:cNvSpPr txBox="1"/>
          <p:nvPr/>
        </p:nvSpPr>
        <p:spPr>
          <a:xfrm>
            <a:off x="8544360" y="3910000"/>
            <a:ext cx="1396640" cy="4500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FN</a:t>
            </a:r>
          </a:p>
        </p:txBody>
      </p:sp>
      <p:sp>
        <p:nvSpPr>
          <p:cNvPr id="41" name="CellLabel 41"/>
          <p:cNvSpPr txBox="1"/>
          <p:nvPr/>
        </p:nvSpPr>
        <p:spPr>
          <a:xfrm>
            <a:off x="8544360" y="4370000"/>
            <a:ext cx="1396640" cy="3000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Missed fraud</a:t>
            </a:r>
          </a:p>
        </p:txBody>
      </p:sp>
      <p:sp>
        <p:nvSpPr>
          <p:cNvPr id="42" name="Cell 42"/>
          <p:cNvSpPr/>
          <p:nvPr/>
        </p:nvSpPr>
        <p:spPr>
          <a:xfrm>
            <a:off x="10001000" y="3810000"/>
            <a:ext cx="1396640" cy="1000000"/>
          </a:xfrm>
          <a:prstGeom prst="roundRect">
            <a:avLst>
              <a:gd name="adj" fmla="val 8000"/>
            </a:avLst>
          </a:prstGeom>
          <a:solidFill>
            <a:srgbClr val="0B1B33"/>
          </a:solidFill>
          <a:ln/>
        </p:spPr>
      </p:sp>
      <p:sp>
        <p:nvSpPr>
          <p:cNvPr id="43" name="CellAbbr 43"/>
          <p:cNvSpPr txBox="1"/>
          <p:nvPr/>
        </p:nvSpPr>
        <p:spPr>
          <a:xfrm>
            <a:off x="10001000" y="3910000"/>
            <a:ext cx="1396640" cy="4500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TP</a:t>
            </a:r>
          </a:p>
        </p:txBody>
      </p:sp>
      <p:sp>
        <p:nvSpPr>
          <p:cNvPr id="44" name="CellLabel 44"/>
          <p:cNvSpPr txBox="1"/>
          <p:nvPr/>
        </p:nvSpPr>
        <p:spPr>
          <a:xfrm>
            <a:off x="10001000" y="4370000"/>
            <a:ext cx="1396640" cy="30000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Fraud caught</a:t>
            </a:r>
          </a:p>
        </p:txBody>
      </p:sp>
      <p:sp>
        <p:nvSpPr>
          <p:cNvPr id="45" name="Caption 45"/>
          <p:cNvSpPr txBox="1"/>
          <p:nvPr/>
        </p:nvSpPr>
        <p:spPr>
          <a:xfrm>
            <a:off x="7944360" y="4990000"/>
            <a:ext cx="3453280" cy="520000"/>
          </a:xfrm>
          <a:prstGeom prst="rect">
            <a:avLst/>
          </a:prstGeom>
          <a:noFill/>
          <a:ln/>
        </p:spPr>
        <p:txBody>
          <a:bodyPr wrap="square" lIns="0" tIns="0" rIns="0" bIns="0" rtlCol="0" anchor="t"/>
          <a:lstStyle/>
          <a:p>
            <a:pPr marL="0" indent="0" algn="l">
              <a:lnSpc>
                <a:spcPct val="110000"/>
              </a:lnSpc>
              <a:buNone/>
            </a:pPr>
            <a:r>
              <a:rPr lang="en-US" sz="1200" b="1" dirty="0">
                <a:solidFill>
                  <a:srgbClr val="0B1B33"/>
                </a:solidFill>
                <a:latin typeface="Calibri" pitchFamily="34" charset="0"/>
                <a:ea typeface="Calibri" pitchFamily="34" charset="-122"/>
                <a:cs typeface="Calibri" pitchFamily="34" charset="-120"/>
              </a:rPr>
              <a:t>A missed fraud (FN) is the costliest error.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1659</Words>
  <Application>Microsoft Office PowerPoint</Application>
  <PresentationFormat>Widescreen</PresentationFormat>
  <Paragraphs>225</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Anuradha Nandini Peddiraju</cp:lastModifiedBy>
  <cp:revision>2</cp:revision>
  <dcterms:created xsi:type="dcterms:W3CDTF">2026-10-05T03:05:45Z</dcterms:created>
  <dcterms:modified xsi:type="dcterms:W3CDTF">2026-10-13T05:19:47Z</dcterms:modified>
</cp:coreProperties>
</file>